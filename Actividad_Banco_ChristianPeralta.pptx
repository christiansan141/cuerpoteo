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christiansan141/BANCOSQ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2743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al Big Data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COMPLEMENTOS FORMATIVOS MASTER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38912" y="1554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HERRAMIENTAS_BASES_DE_DATOS</a:t>
            </a:r>
            <a:endParaRPr lang="en-US" sz="2000" dirty="0"/>
          </a:p>
        </p:txBody>
      </p:sp>
      <p:pic>
        <p:nvPicPr>
          <p:cNvPr id="5" name="Image 0" descr="Universidad Internacional de Valenci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048" y="2432304"/>
            <a:ext cx="5330952" cy="22037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813048" y="47548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Banco: modelo E/R y MySQL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Peralta Restrepo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20624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29/09/2026</a:t>
            </a:r>
            <a:endParaRPr lang="en-US" sz="1300" dirty="0"/>
          </a:p>
        </p:txBody>
      </p:sp>
      <p:pic>
        <p:nvPicPr>
          <p:cNvPr id="8" name="Image 1" descr="Planeta Formación y Universidad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0" y="6263640"/>
            <a:ext cx="2011680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2860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Entidad – Relación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Peralta Restrepo · Actividad Banco: modelo E/R y MySQL</a:t>
            </a:r>
            <a:endParaRPr lang="en-US" sz="1100" dirty="0"/>
          </a:p>
        </p:txBody>
      </p:sp>
      <p:pic>
        <p:nvPicPr>
          <p:cNvPr id="4" name="Image 0" descr="Diagrama entidad-relación del banc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3750" y="914400"/>
            <a:ext cx="9730596" cy="5486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2860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 del E/R: entidades y atributos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Peralta Restrepo · Actividad Banco: modelo E/R y MySQL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005840"/>
          <a:ext cx="11430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920240"/>
                <a:gridCol w="2194560"/>
                <a:gridCol w="2194560"/>
                <a:gridCol w="3383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Entidad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52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52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(clave primaria)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52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(clave foránea)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52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Otros atributos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520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Sucursal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Fuerte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u="sng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NombreSucursal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Localidad, Activos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Empleado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Fuerte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u="sng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IdEmpleado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IdJefe (reflexiva)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Nombre, Telefono, FechaContratacion, Antigüedad (derivado)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Fuerte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u="sng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IdCliente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IdEmpleado (asesor)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Nombre, Calle, Ciudad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Fuerte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u="sng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NumCuenta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CuentaAhorro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Subtipo de Cuenta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u="sng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NumCuenta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NumCuenta → Cuenta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TasaInteres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CuentaCorriente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Subtipo de Cuenta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u="sng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NumCuenta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NumCuenta → Cuenta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Descubierto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Préstamo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Fuerte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u="sng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IdPrestamo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NombreSucursal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Débil (de Préstamo)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u="sng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IdPrestamo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</a:t>
                      </a:r>
                      <a:pPr indent="0" marL="0">
                        <a:buNone/>
                      </a:pPr>
                      <a:r>
                        <a:rPr lang="en-US" sz="1300" u="sng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NumPago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IdPrestamo → Préstamo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Fecha, Importe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Personas_A_Cargo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Débil (de Empleado)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u="sng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IdEmpleado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</a:t>
                      </a:r>
                      <a:pPr indent="0" marL="0">
                        <a:buNone/>
                      </a:pPr>
                      <a:r>
                        <a:rPr lang="en-US" sz="1300" u="sng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IdEmpleado → Empleado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84048" y="5120640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entidades débiles (Pago, Personas_A_Cargo) se identifican con la clave de su entidad propietaria más un discriminador (NumPago, Nombre). La antigüedad del empleado es un atributo derivado: no se almacena, se calcula a partir de la fecha de contratación.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2860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 del E/R: relaciones y cardinalidades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Peralta Restrepo · Actividad Banco: modelo E/R y MySQL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005840"/>
          <a:ext cx="11430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651760"/>
                <a:gridCol w="731520"/>
                <a:gridCol w="137160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52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Entidades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52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52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Cardinalidad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52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Comentario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520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asesora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Empleado – Cliente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(0,1) / (0,n)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cliente tiene como mucho un asesor; un empleado asesora a varios clientes.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 jefe 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Empleado – Empleado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(0,1) / (0,n)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Relación reflexiva: el jefe también es empleado.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 titular 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 – Cuenta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N:M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(1,n) / (0,n)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 de la relación: FechaUltimoAcceso (depende del cliente y de la cuenta).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 titular 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 – Préstamo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N:M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(1,n) / (0,n)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préstamo tiene uno o más titulares.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Sucursal – Préstamo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(1,1) / (0,n)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préstamo se ofrece desde una sucursal concreta.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tiene (ID)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Préstamo – Pago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(1,1) / (0,n)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Dependencia de identificación: Pago es entidad débil.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 de / tiene (ID)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Empleado – Personas_A_Cargo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(1,1) / (0,n)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Dependencia de identificación: Personas_A_Cargo es entidad débil.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 / es de tipo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Cuenta – CuentaAhorro / CuentaCorriente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(1,1) / (0,1)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Especialización total y exclusiva: toda cuenta es de ahorro o corriente, nunca ambas.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84048" y="5669280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 (mín,máx) indica cuántos elementos de la entidad hay por cada elemento de la entidad del otro extremo.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2860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relacional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Peralta Restrepo · Actividad Banco: modelo E/R y MySQL</a:t>
            </a:r>
            <a:endParaRPr lang="en-US" sz="1100" dirty="0"/>
          </a:p>
        </p:txBody>
      </p:sp>
      <p:pic>
        <p:nvPicPr>
          <p:cNvPr id="4" name="Image 0" descr="Diagrama relacional generado en MySQL Workben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8122" y="960120"/>
            <a:ext cx="9001852" cy="5349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2860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Coherencia entre el diagrama E/R y el relacional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Peralta Restrepo · Actividad Banco: modelo E/R y MySQL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005840"/>
          <a:ext cx="114300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840480"/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Elemento del E/R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52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convierte en…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52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este proyecto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520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Entidad fuerte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tabla con su PK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SUCURSAL, EMPLEADO, CLIENTE, CUENTA, PRESTAMO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Relación 1:N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FK va en la tabla del lado 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CLIENTE.ID_EMPLEADO (asesor), EMPLEADO.ID_JEFE, PRESTAMO.NOMBRE_SUCURSAL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Relación N:M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 intermedia con las dos claves como PK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CUENTA_CLIENTE (con FECHA del último acceso), CLIENTE_PRESTAMO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Entidad débil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compuesta: clave del propietario + discriminador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PAGO (ID, NUM_PAGO), PERSONAS_A_CARGO (ID_EMPLEADO, NOMBRE)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Especialización de Cuenta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tabla por subtipo; su PK es a la vez FK a CUENTA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C_AHORROS (TASAS), C_CORRIENTE (DESCUBIERTO)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 derivado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 guarda; se calcula al consultar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Antigüedad = TIMESTAMPDIFF(YEAR, FECHA, CURDATE())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84048" y="5212080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Diferencias de nombre entre ambos diagramas: ID en PAGO = IdPrestamo, ID en CUENTA_CLIENTE = IdCliente, ID_P en PRESTAMO = IdPrestamo, FECHA en EMPLEADO = FechaContratacion, TASAS = TasaInteres. Son los mismos atributos con otro nombre; las 11 tablas coinciden con las 9 entidades y las 2 relaciones N:M.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2860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MySQL: creación de tablas y relaciones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Peralta Restrepo · Actividad Banco: modelo E/R y MySQL</a:t>
            </a:r>
            <a:endParaRPr lang="en-US" sz="1100" dirty="0"/>
          </a:p>
        </p:txBody>
      </p:sp>
      <p:pic>
        <p:nvPicPr>
          <p:cNvPr id="4" name="Image 0" descr="Salida de Workbench del CREATE TA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914400"/>
            <a:ext cx="11430000" cy="25122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84048" y="3472404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de Workbench: CREATE DATABASE, USE y CREATE TABLE ejecutados sin errores (PERSONAS_A_CARGO, la última, se confirma en el SHOW TABLES)</a:t>
            </a:r>
            <a:endParaRPr lang="en-US" sz="1200" dirty="0"/>
          </a:p>
        </p:txBody>
      </p:sp>
      <p:pic>
        <p:nvPicPr>
          <p:cNvPr id="6" name="Image 1" descr="SHOW TABL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394" y="3883884"/>
            <a:ext cx="1874668" cy="21968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84048" y="6126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TABLES: las 11 tablas de la base «banco»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846320" y="4249644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Claves primarias y foráneas definidas con PRIMARY KEY y FOREIGN KEY.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tablas se crean en orden: primero las que no dependen de otras.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borrado en cascada (ver conclusiones).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2860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MySQL: inserción de datos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Peralta Restrepo · Actividad Banco: modelo E/R y MySQL</a:t>
            </a:r>
            <a:endParaRPr lang="en-US" sz="1100" dirty="0"/>
          </a:p>
        </p:txBody>
      </p:sp>
      <p:pic>
        <p:nvPicPr>
          <p:cNvPr id="4" name="Image 0" descr="Script de INSERT y sali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0437" y="914400"/>
            <a:ext cx="9117221" cy="5029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84048" y="5998464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de INSERT y salida de Workbench: inserciones ejecutadas sin advertencias (los SELECT siguientes comprueban las 11 tablas)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2860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de cada tabla (1/4)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Peralta Restrepo · Actividad Banco: modelo E/R y MySQL</a:t>
            </a:r>
            <a:endParaRPr lang="en-US" sz="1100" dirty="0"/>
          </a:p>
        </p:txBody>
      </p:sp>
      <p:pic>
        <p:nvPicPr>
          <p:cNvPr id="4" name="Image 0" descr="SUCURS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05840"/>
            <a:ext cx="3657600" cy="314917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84048" y="422817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SUCURSAL</a:t>
            </a:r>
            <a:endParaRPr lang="en-US" sz="1200" dirty="0"/>
          </a:p>
        </p:txBody>
      </p:sp>
      <p:pic>
        <p:nvPicPr>
          <p:cNvPr id="6" name="Image 1" descr="EMPLEA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1005840"/>
            <a:ext cx="3657600" cy="354795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270248" y="462694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</a:t>
            </a:r>
            <a:endParaRPr lang="en-US" sz="1200" dirty="0"/>
          </a:p>
        </p:txBody>
      </p:sp>
      <p:pic>
        <p:nvPicPr>
          <p:cNvPr id="8" name="Image 2" descr="CLIEN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48" y="1005840"/>
            <a:ext cx="3657600" cy="2571117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156448" y="3650109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2860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de cada tabla (2/4)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Peralta Restrepo · Actividad Banco: modelo E/R y MySQL</a:t>
            </a:r>
            <a:endParaRPr lang="en-US" sz="1100" dirty="0"/>
          </a:p>
        </p:txBody>
      </p:sp>
      <p:pic>
        <p:nvPicPr>
          <p:cNvPr id="4" name="Image 0" descr="CUENTA (saldo de la 101 tras un UPDATE previo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764" y="1005840"/>
            <a:ext cx="3626168" cy="4297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84048" y="53766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(saldo de la 101 tras un UPDATE previo)</a:t>
            </a:r>
            <a:endParaRPr lang="en-US" sz="1200" dirty="0"/>
          </a:p>
        </p:txBody>
      </p:sp>
      <p:pic>
        <p:nvPicPr>
          <p:cNvPr id="6" name="Image 1" descr="C_AHORR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6568" y="1005840"/>
            <a:ext cx="3284959" cy="42976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270248" y="53766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C_AHORROS</a:t>
            </a:r>
            <a:endParaRPr lang="en-US" sz="1200" dirty="0"/>
          </a:p>
        </p:txBody>
      </p:sp>
      <p:pic>
        <p:nvPicPr>
          <p:cNvPr id="8" name="Image 2" descr="C_CORRIEN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645" y="1005840"/>
            <a:ext cx="3219206" cy="4297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156448" y="53766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C_CORRIENTE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2860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de cada tabla (3/4)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Peralta Restrepo · Actividad Banco: modelo E/R y MySQL</a:t>
            </a:r>
            <a:endParaRPr lang="en-US" sz="1100" dirty="0"/>
          </a:p>
        </p:txBody>
      </p:sp>
      <p:pic>
        <p:nvPicPr>
          <p:cNvPr id="4" name="Image 0" descr="PRESTAM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38" y="1005840"/>
            <a:ext cx="3170420" cy="4297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84048" y="53766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PRESTAMO</a:t>
            </a:r>
            <a:endParaRPr lang="en-US" sz="1200" dirty="0"/>
          </a:p>
        </p:txBody>
      </p:sp>
      <p:pic>
        <p:nvPicPr>
          <p:cNvPr id="6" name="Image 1" descr="PA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1005840"/>
            <a:ext cx="3657600" cy="131905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270248" y="2398047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</a:t>
            </a:r>
            <a:endParaRPr lang="en-US" sz="1200" dirty="0"/>
          </a:p>
        </p:txBody>
      </p:sp>
      <p:pic>
        <p:nvPicPr>
          <p:cNvPr id="8" name="Image 2" descr="CUENTA_CLIEN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419" y="1005840"/>
            <a:ext cx="3565658" cy="4297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156448" y="53766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CUENTA_CLIENTE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2860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de cada tabla (4/4)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Peralta Restrepo · Actividad Banco: modelo E/R y MySQL</a:t>
            </a:r>
            <a:endParaRPr lang="en-US" sz="1100" dirty="0"/>
          </a:p>
        </p:txBody>
      </p:sp>
      <p:pic>
        <p:nvPicPr>
          <p:cNvPr id="4" name="Image 0" descr="CLIENTE_PRESTAM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2292" y="1005840"/>
            <a:ext cx="2664212" cy="4297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84048" y="5376672"/>
            <a:ext cx="5600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CLIENTE_PRESTAMO</a:t>
            </a:r>
            <a:endParaRPr lang="en-US" sz="1200" dirty="0"/>
          </a:p>
        </p:txBody>
      </p:sp>
      <p:pic>
        <p:nvPicPr>
          <p:cNvPr id="6" name="Image 1" descr="PERSONAS_A_CAR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240" y="1005840"/>
            <a:ext cx="3286915" cy="42976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13348" y="5376672"/>
            <a:ext cx="5600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PERSONAS_A_CARGO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2860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con datos de varias tablas (1/3)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Peralta Restrepo · Actividad Banco: modelo E/R y MySQL</a:t>
            </a:r>
            <a:endParaRPr lang="en-US" sz="1100" dirty="0"/>
          </a:p>
        </p:txBody>
      </p:sp>
      <p:pic>
        <p:nvPicPr>
          <p:cNvPr id="4" name="Image 0" descr="1) Cada cliente con el nombre de su asesor (Elena Vega no tiene asesor y no aparec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05840"/>
            <a:ext cx="5600700" cy="363554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84048" y="4714534"/>
            <a:ext cx="5600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Cada cliente con el nombre de su asesor (Elena Vega no tiene asesor y no aparece)</a:t>
            </a:r>
            <a:endParaRPr lang="en-US" sz="1200" dirty="0"/>
          </a:p>
        </p:txBody>
      </p:sp>
      <p:pic>
        <p:nvPicPr>
          <p:cNvPr id="6" name="Image 1" descr="2) Cuentas de cada cliente con su saldo y último acces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348" y="1005840"/>
            <a:ext cx="5600700" cy="30416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13348" y="4120685"/>
            <a:ext cx="5600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Cuentas de cada cliente con su saldo y último acceso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2860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con datos de varias tablas (2/3)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Peralta Restrepo · Actividad Banco: modelo E/R y MySQL</a:t>
            </a:r>
            <a:endParaRPr lang="en-US" sz="1100" dirty="0"/>
          </a:p>
        </p:txBody>
      </p:sp>
      <p:pic>
        <p:nvPicPr>
          <p:cNvPr id="4" name="Image 0" descr="3) Préstamos con su sucursal y sus titula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029" y="1005840"/>
            <a:ext cx="5100737" cy="4297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84048" y="5376672"/>
            <a:ext cx="5600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Préstamos con su sucursal y sus titulares</a:t>
            </a:r>
            <a:endParaRPr lang="en-US" sz="1200" dirty="0"/>
          </a:p>
        </p:txBody>
      </p:sp>
      <p:pic>
        <p:nvPicPr>
          <p:cNvPr id="6" name="Image 1" descr="4) Cada empleado con el nombre de su jefe (LEFT JOIN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348" y="1005840"/>
            <a:ext cx="5600700" cy="415454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13348" y="5233541"/>
            <a:ext cx="5600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Cada empleado con el nombre de su jefe (LEFT JOIN)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2860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con datos de varias tablas (3/3)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Peralta Restrepo · Actividad Banco: modelo E/R y MySQL</a:t>
            </a:r>
            <a:endParaRPr lang="en-US" sz="1100" dirty="0"/>
          </a:p>
        </p:txBody>
      </p:sp>
      <p:pic>
        <p:nvPicPr>
          <p:cNvPr id="4" name="Image 0" descr="5) Antigüedad de cada empleado en años (dato derivado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5560" y="1005840"/>
            <a:ext cx="5886975" cy="4297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84048" y="537667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Antigüedad de cada empleado en años (dato derivado)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2860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CRUD: actualizar (UPDATE)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Peralta Restrepo · Actividad Banco: modelo E/R y MySQL</a:t>
            </a:r>
            <a:endParaRPr lang="en-US" sz="1100" dirty="0"/>
          </a:p>
        </p:txBody>
      </p:sp>
      <p:pic>
        <p:nvPicPr>
          <p:cNvPr id="4" name="Image 0" descr="Antes: saldo de la cuenta 101 = 2000.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05840"/>
            <a:ext cx="5600700" cy="41515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84048" y="5230560"/>
            <a:ext cx="5600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saldo de la cuenta 101 = 2000.00</a:t>
            </a:r>
            <a:endParaRPr lang="en-US" sz="1200" dirty="0"/>
          </a:p>
        </p:txBody>
      </p:sp>
      <p:pic>
        <p:nvPicPr>
          <p:cNvPr id="6" name="Image 1" descr="UPDATE y después: saldo = 2500.0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348" y="1005840"/>
            <a:ext cx="5600700" cy="23988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13348" y="3477840"/>
            <a:ext cx="5600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y después: saldo = 2500.00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2860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CRUD: borrar (DELETE)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Peralta Restrepo · Actividad Banco: modelo E/R y MySQL</a:t>
            </a:r>
            <a:endParaRPr lang="en-US" sz="1100" dirty="0"/>
          </a:p>
        </p:txBody>
      </p:sp>
      <p:pic>
        <p:nvPicPr>
          <p:cNvPr id="4" name="Image 0" descr="Antes: PAGO tiene 4 fil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05840"/>
            <a:ext cx="5600700" cy="20198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84048" y="3098795"/>
            <a:ext cx="5600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PAGO tiene 4 filas</a:t>
            </a:r>
            <a:endParaRPr lang="en-US" sz="1200" dirty="0"/>
          </a:p>
        </p:txBody>
      </p:sp>
      <p:pic>
        <p:nvPicPr>
          <p:cNvPr id="6" name="Image 1" descr="DELETE del pago 2 del préstamo 1 y después: 3 fil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348" y="1005840"/>
            <a:ext cx="5600700" cy="332076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13348" y="4399761"/>
            <a:ext cx="5600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del pago 2 del préstamo 1 y después: 3 filas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2860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 a MySQL: sentencias SQL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Peralta Restrepo · Actividad Banco: modelo E/R y MySQL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84048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con los scripts completos:</a:t>
            </a:r>
            <a:endParaRPr lang="en-US" sz="2000" dirty="0"/>
          </a:p>
        </p:txBody>
      </p:sp>
      <p:sp>
        <p:nvSpPr>
          <p:cNvPr id="5" name="Text 3">
            <a:hlinkClick r:id="rId1" tooltip=""/>
          </p:cNvPr>
          <p:cNvSpPr txBox="1"/>
          <p:nvPr/>
        </p:nvSpPr>
        <p:spPr>
          <a:xfrm>
            <a:off x="384048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u="sng" dirty="0">
                <a:solidFill>
                  <a:srgbClr val="E4520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https://github.com/christiansan141/BANCOSQL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2377440"/>
          <a:ext cx="11430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68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52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520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BANCO.sql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Creación de la base de datos, las 11 tablas y sus relaciones (CREATE)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INSERCION_DATOS.sql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Inserción de datos (INSERT), consultas (SELECT y JOIN), actualización (UPDATE) y borrado (DELETE)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384048" y="3840480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CRUD: Create = CREATE TABLE / INSERT · Read = SELECT · Update = UPDATE · Delete = DELETE.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2860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Peralta Restrepo · Actividad Banco: modelo E/R y MySQL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es muy estricto: su manejo obliga a una arquitectura declarativa y fuertemente tipada, y limita la estructura de cualquier proyecto a las mismas bases. Primero se encuentran las entidades, se entienden las relaciones, se hace el diagrama relacional y solo después se construye todo.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evitó añadir correcciones al borrar registros. He observado que si borro, por ejemplo, un registro de una cuenta, MySQL no lo permite mientras existan datos relacionados en otras tablas, y tampoco los borra en cascada. Desconozco cómo conectar los borrados en cascada y, en vez de buscar cómo solucionarlo, lo dejo aquí como evidencia del avance y, a la vez, del desconocimiento sobre cómo conectar y dejar completamente funcional esta base de datos que presento.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Actividad Banco: modelo E/R y MySQL</dc:title>
  <dc:subject>PptxGenJS Presentation</dc:subject>
  <dc:creator>Christian Peralta Restrepo</dc:creator>
  <cp:lastModifiedBy>Christian Peralta Restrepo</cp:lastModifiedBy>
  <cp:revision>1</cp:revision>
  <dcterms:created xsi:type="dcterms:W3CDTF">2026-09-29T21:31:13Z</dcterms:created>
  <dcterms:modified xsi:type="dcterms:W3CDTF">2026-09-29T21:31:13Z</dcterms:modified>
</cp:coreProperties>
</file>
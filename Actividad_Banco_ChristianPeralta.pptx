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github.com/christiansan141/BANCOSQL" TargetMode="Externa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38912" y="274320"/>
            <a:ext cx="7863840" cy="822960"/>
          </a:xfrm>
          <a:prstGeom prst="rect">
            <a:avLst/>
          </a:prstGeom>
          <a:noFill/>
          <a:ln/>
        </p:spPr>
        <p:txBody>
          <a:bodyPr wrap="square" lIns="0" tIns="0" rIns="0" bIns="0" rtlCol="0" anchor="ctr"/>
          <a:lstStyle/>
          <a:p>
            <a:pPr indent="0" marL="0">
              <a:buNone/>
            </a:pPr>
            <a:r>
              <a:rPr lang="en-US" sz="4400" dirty="0">
                <a:solidFill>
                  <a:srgbClr val="000000"/>
                </a:solidFill>
                <a:latin typeface="Calibri" pitchFamily="34" charset="0"/>
                <a:ea typeface="Calibri" pitchFamily="34" charset="-122"/>
                <a:cs typeface="Calibri" pitchFamily="34" charset="-120"/>
              </a:rPr>
              <a:t>Introducción al Big Data</a:t>
            </a:r>
            <a:endParaRPr lang="en-US" sz="4400" dirty="0"/>
          </a:p>
        </p:txBody>
      </p:sp>
      <p:sp>
        <p:nvSpPr>
          <p:cNvPr id="3" name="Text 1"/>
          <p:cNvSpPr txBox="1"/>
          <p:nvPr/>
        </p:nvSpPr>
        <p:spPr>
          <a:xfrm>
            <a:off x="438912" y="1097280"/>
            <a:ext cx="8229600" cy="457200"/>
          </a:xfrm>
          <a:prstGeom prst="rect">
            <a:avLst/>
          </a:prstGeom>
          <a:noFill/>
          <a:ln/>
        </p:spPr>
        <p:txBody>
          <a:bodyPr wrap="square" lIns="0" tIns="0" rIns="0" bIns="0" rtlCol="0" anchor="ctr"/>
          <a:lstStyle/>
          <a:p>
            <a:pPr indent="0" marL="0">
              <a:buNone/>
            </a:pPr>
            <a:r>
              <a:rPr lang="en-US" sz="2600" dirty="0">
                <a:solidFill>
                  <a:srgbClr val="111111"/>
                </a:solidFill>
                <a:latin typeface="Calibri" pitchFamily="34" charset="0"/>
                <a:ea typeface="Calibri" pitchFamily="34" charset="-122"/>
                <a:cs typeface="Calibri" pitchFamily="34" charset="-120"/>
              </a:rPr>
              <a:t>COMPLEMENTOS FORMATIVOS MASTER</a:t>
            </a:r>
            <a:endParaRPr lang="en-US" sz="2600" dirty="0"/>
          </a:p>
        </p:txBody>
      </p:sp>
      <p:sp>
        <p:nvSpPr>
          <p:cNvPr id="4" name="Text 2"/>
          <p:cNvSpPr txBox="1"/>
          <p:nvPr/>
        </p:nvSpPr>
        <p:spPr>
          <a:xfrm>
            <a:off x="438912" y="1554480"/>
            <a:ext cx="8229600" cy="411480"/>
          </a:xfrm>
          <a:prstGeom prst="rect">
            <a:avLst/>
          </a:prstGeom>
          <a:noFill/>
          <a:ln/>
        </p:spPr>
        <p:txBody>
          <a:bodyPr wrap="square" lIns="0" tIns="0" rIns="0" bIns="0" rtlCol="0" anchor="ctr"/>
          <a:lstStyle/>
          <a:p>
            <a:pPr indent="0" marL="0">
              <a:buNone/>
            </a:pPr>
            <a:r>
              <a:rPr lang="en-US" sz="2000" dirty="0">
                <a:solidFill>
                  <a:srgbClr val="111111"/>
                </a:solidFill>
                <a:latin typeface="Calibri" pitchFamily="34" charset="0"/>
                <a:ea typeface="Calibri" pitchFamily="34" charset="-122"/>
                <a:cs typeface="Calibri" pitchFamily="34" charset="-120"/>
              </a:rPr>
              <a:t>HERRAMIENTAS_BASES_DE_DATOS</a:t>
            </a:r>
            <a:endParaRPr lang="en-US" sz="2000" dirty="0"/>
          </a:p>
        </p:txBody>
      </p:sp>
      <p:pic>
        <p:nvPicPr>
          <p:cNvPr id="5" name="Image 0" descr="Universidad Internacional de Valencia">    </p:cNvPr>
          <p:cNvPicPr>
            <a:picLocks noChangeAspect="1"/>
          </p:cNvPicPr>
          <p:nvPr/>
        </p:nvPicPr>
        <p:blipFill>
          <a:blip r:embed="rId2"/>
          <a:stretch>
            <a:fillRect/>
          </a:stretch>
        </p:blipFill>
        <p:spPr>
          <a:xfrm>
            <a:off x="3813048" y="2432304"/>
            <a:ext cx="5330952" cy="2203704"/>
          </a:xfrm>
          <a:prstGeom prst="rect">
            <a:avLst/>
          </a:prstGeom>
        </p:spPr>
      </p:pic>
      <p:sp>
        <p:nvSpPr>
          <p:cNvPr id="6" name="Text 3"/>
          <p:cNvSpPr txBox="1"/>
          <p:nvPr/>
        </p:nvSpPr>
        <p:spPr>
          <a:xfrm>
            <a:off x="3813048" y="4754880"/>
            <a:ext cx="6400800" cy="822960"/>
          </a:xfrm>
          <a:prstGeom prst="rect">
            <a:avLst/>
          </a:prstGeom>
          <a:noFill/>
          <a:ln/>
        </p:spPr>
        <p:txBody>
          <a:bodyPr wrap="square" lIns="0" tIns="0" rIns="0" bIns="0" rtlCol="0" anchor="t"/>
          <a:lstStyle/>
          <a:p>
            <a:pPr indent="0" marL="0">
              <a:buNone/>
            </a:pPr>
            <a:r>
              <a:rPr lang="en-US" sz="1800" b="1" dirty="0">
                <a:solidFill>
                  <a:srgbClr val="222222"/>
                </a:solidFill>
                <a:latin typeface="Calibri" pitchFamily="34" charset="0"/>
                <a:ea typeface="Calibri" pitchFamily="34" charset="-122"/>
                <a:cs typeface="Calibri" pitchFamily="34" charset="-120"/>
              </a:rPr>
              <a:t>Actividad Banco: modelo E/R y MySQL</a:t>
            </a:r>
            <a:endParaRPr lang="en-US" sz="1800" dirty="0"/>
          </a:p>
          <a:p>
            <a:pPr indent="0" marL="0">
              <a:buNone/>
            </a:pPr>
            <a:r>
              <a:rPr lang="en-US" sz="1800" dirty="0">
                <a:solidFill>
                  <a:srgbClr val="222222"/>
                </a:solidFill>
                <a:latin typeface="Calibri" pitchFamily="34" charset="0"/>
                <a:ea typeface="Calibri" pitchFamily="34" charset="-122"/>
                <a:cs typeface="Calibri" pitchFamily="34" charset="-120"/>
              </a:rPr>
              <a:t>Christian Peralta Restrepo</a:t>
            </a:r>
            <a:endParaRPr lang="en-US" sz="1800" dirty="0"/>
          </a:p>
        </p:txBody>
      </p:sp>
      <p:sp>
        <p:nvSpPr>
          <p:cNvPr id="7" name="Text 4"/>
          <p:cNvSpPr txBox="1"/>
          <p:nvPr/>
        </p:nvSpPr>
        <p:spPr>
          <a:xfrm>
            <a:off x="420624" y="6355080"/>
            <a:ext cx="1828800" cy="27432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29/09/2026</a:t>
            </a:r>
            <a:endParaRPr lang="en-US" sz="1300" dirty="0"/>
          </a:p>
        </p:txBody>
      </p:sp>
      <p:pic>
        <p:nvPicPr>
          <p:cNvPr id="8" name="Image 1" descr="Planeta Formación y Universidades">    </p:cNvPr>
          <p:cNvPicPr>
            <a:picLocks noChangeAspect="1"/>
          </p:cNvPicPr>
          <p:nvPr/>
        </p:nvPicPr>
        <p:blipFill>
          <a:blip r:embed="rId3"/>
          <a:stretch>
            <a:fillRect/>
          </a:stretch>
        </p:blipFill>
        <p:spPr>
          <a:xfrm>
            <a:off x="9738360" y="6263640"/>
            <a:ext cx="2011680" cy="42062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Diagrama Entidad – Relación</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pic>
        <p:nvPicPr>
          <p:cNvPr id="4" name="Image 0" descr="Diagrama entidad-relación del banco">    </p:cNvPr>
          <p:cNvPicPr>
            <a:picLocks noChangeAspect="1"/>
          </p:cNvPicPr>
          <p:nvPr/>
        </p:nvPicPr>
        <p:blipFill>
          <a:blip r:embed="rId1"/>
          <a:stretch>
            <a:fillRect/>
          </a:stretch>
        </p:blipFill>
        <p:spPr>
          <a:xfrm>
            <a:off x="1233750" y="914400"/>
            <a:ext cx="9730596" cy="5486400"/>
          </a:xfrm>
          <a:prstGeom prst="rect">
            <a:avLst/>
          </a:prstGeom>
        </p:spPr>
      </p:pic>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Comentarios del E/R: entidades y atributos</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84048" y="1005840"/>
          <a:ext cx="11430000" cy="914400"/>
        </p:xfrm>
        <a:graphic>
          <a:graphicData uri="http://schemas.openxmlformats.org/drawingml/2006/table">
            <a:tbl>
              <a:tblPr/>
              <a:tblGrid>
                <a:gridCol w="1737360"/>
                <a:gridCol w="1920240"/>
                <a:gridCol w="2194560"/>
                <a:gridCol w="2194560"/>
                <a:gridCol w="338328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Entidad</a:t>
                      </a:r>
                      <a:endParaRPr lang="en-US" sz="1400" dirty="0">
                        <a:latin typeface="Calibri" charset="0"/>
                        <a:ea typeface="Calibri" charset="0"/>
                        <a:cs typeface="Calibri" charset="0"/>
                      </a:endParaRPr>
                    </a:p>
                  </a:txBody>
                  <a:tcPr marL="73152" marR="73152"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4520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Tipo</a:t>
                      </a:r>
                      <a:endParaRPr lang="en-US" sz="1400" dirty="0">
                        <a:latin typeface="Calibri" charset="0"/>
                        <a:ea typeface="Calibri" charset="0"/>
                        <a:cs typeface="Calibri" charset="0"/>
                      </a:endParaRPr>
                    </a:p>
                  </a:txBody>
                  <a:tcPr marL="73152" marR="73152"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4520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PK (clave primaria)</a:t>
                      </a:r>
                      <a:endParaRPr lang="en-US" sz="1400" dirty="0">
                        <a:latin typeface="Calibri" charset="0"/>
                        <a:ea typeface="Calibri" charset="0"/>
                        <a:cs typeface="Calibri" charset="0"/>
                      </a:endParaRPr>
                    </a:p>
                  </a:txBody>
                  <a:tcPr marL="73152" marR="73152"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4520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FK (clave foránea)</a:t>
                      </a:r>
                      <a:endParaRPr lang="en-US" sz="1400" dirty="0">
                        <a:latin typeface="Calibri" charset="0"/>
                        <a:ea typeface="Calibri" charset="0"/>
                        <a:cs typeface="Calibri" charset="0"/>
                      </a:endParaRPr>
                    </a:p>
                  </a:txBody>
                  <a:tcPr marL="73152" marR="73152"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4520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Otros atributos</a:t>
                      </a:r>
                      <a:endParaRPr lang="en-US" sz="1400" dirty="0">
                        <a:latin typeface="Calibri" charset="0"/>
                        <a:ea typeface="Calibri" charset="0"/>
                        <a:cs typeface="Calibri" charset="0"/>
                      </a:endParaRPr>
                    </a:p>
                  </a:txBody>
                  <a:tcPr marL="73152" marR="73152"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4520F"/>
                    </a:solidFill>
                  </a:tcPr>
                </a:tc>
              </a:tr>
              <a:tr h="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Sucursal</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Fuerte</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u="sng" dirty="0">
                          <a:solidFill>
                            <a:srgbClr val="222222"/>
                          </a:solidFill>
                          <a:latin typeface="Calibri" pitchFamily="34" charset="0"/>
                          <a:ea typeface="Calibri" pitchFamily="34" charset="-122"/>
                          <a:cs typeface="Calibri" pitchFamily="34" charset="-120"/>
                        </a:rPr>
                        <a:t>NombreSucursal</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Localidad, Activos</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Empleado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Fuerte</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u="sng" dirty="0">
                          <a:solidFill>
                            <a:srgbClr val="222222"/>
                          </a:solidFill>
                          <a:latin typeface="Calibri" pitchFamily="34" charset="0"/>
                          <a:ea typeface="Calibri" pitchFamily="34" charset="-122"/>
                          <a:cs typeface="Calibri" pitchFamily="34" charset="-120"/>
                        </a:rPr>
                        <a:t>IdEmpleado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IdJefe (reflexiva)</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Nombre, Telefono, FechaContratacion, Antigüedad (derivado)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r>
              <a:tr h="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Cliente</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Fuerte</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u="sng" dirty="0">
                          <a:solidFill>
                            <a:srgbClr val="222222"/>
                          </a:solidFill>
                          <a:latin typeface="Calibri" pitchFamily="34" charset="0"/>
                          <a:ea typeface="Calibri" pitchFamily="34" charset="-122"/>
                          <a:cs typeface="Calibri" pitchFamily="34" charset="-120"/>
                        </a:rPr>
                        <a:t>IdCliente</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IdEmpleado (asesor)</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Nombre, Calle, Ciudad</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Cuenta</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Fuerte</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u="sng" dirty="0">
                          <a:solidFill>
                            <a:srgbClr val="222222"/>
                          </a:solidFill>
                          <a:latin typeface="Calibri" pitchFamily="34" charset="0"/>
                          <a:ea typeface="Calibri" pitchFamily="34" charset="-122"/>
                          <a:cs typeface="Calibri" pitchFamily="34" charset="-120"/>
                        </a:rPr>
                        <a:t>NumCuenta</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Saldo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r>
              <a:tr h="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CuentaAhorro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Subtipo de Cuenta</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u="sng" dirty="0">
                          <a:solidFill>
                            <a:srgbClr val="222222"/>
                          </a:solidFill>
                          <a:latin typeface="Calibri" pitchFamily="34" charset="0"/>
                          <a:ea typeface="Calibri" pitchFamily="34" charset="-122"/>
                          <a:cs typeface="Calibri" pitchFamily="34" charset="-120"/>
                        </a:rPr>
                        <a:t>NumCuenta</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NumCuenta → Cuenta</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TasaInteres</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CuentaCorriente</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Subtipo de Cuenta</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u="sng" dirty="0">
                          <a:solidFill>
                            <a:srgbClr val="222222"/>
                          </a:solidFill>
                          <a:latin typeface="Calibri" pitchFamily="34" charset="0"/>
                          <a:ea typeface="Calibri" pitchFamily="34" charset="-122"/>
                          <a:cs typeface="Calibri" pitchFamily="34" charset="-120"/>
                        </a:rPr>
                        <a:t>NumCuenta</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NumCuenta → Cuenta</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Descubierto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r>
              <a:tr h="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Préstamo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Fuerte</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u="sng" dirty="0">
                          <a:solidFill>
                            <a:srgbClr val="222222"/>
                          </a:solidFill>
                          <a:latin typeface="Calibri" pitchFamily="34" charset="0"/>
                          <a:ea typeface="Calibri" pitchFamily="34" charset="-122"/>
                          <a:cs typeface="Calibri" pitchFamily="34" charset="-120"/>
                        </a:rPr>
                        <a:t>IdPrestamo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NombreSucursal</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Importe</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Pago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Débil (de Préstamo)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u="sng" dirty="0">
                          <a:solidFill>
                            <a:srgbClr val="222222"/>
                          </a:solidFill>
                          <a:latin typeface="Calibri" pitchFamily="34" charset="0"/>
                          <a:ea typeface="Calibri" pitchFamily="34" charset="-122"/>
                          <a:cs typeface="Calibri" pitchFamily="34" charset="-120"/>
                        </a:rPr>
                        <a:t>IdPrestamo</a:t>
                      </a:r>
                      <a:pPr indent="0" marL="0">
                        <a:buNone/>
                      </a:pPr>
                      <a:r>
                        <a:rPr lang="en-US" sz="1300" dirty="0">
                          <a:solidFill>
                            <a:srgbClr val="222222"/>
                          </a:solidFill>
                          <a:latin typeface="Calibri" pitchFamily="34" charset="0"/>
                          <a:ea typeface="Calibri" pitchFamily="34" charset="-122"/>
                          <a:cs typeface="Calibri" pitchFamily="34" charset="-120"/>
                        </a:rPr>
                        <a:t> + </a:t>
                      </a:r>
                      <a:pPr indent="0" marL="0">
                        <a:buNone/>
                      </a:pPr>
                      <a:r>
                        <a:rPr lang="en-US" sz="1300" u="sng" dirty="0">
                          <a:solidFill>
                            <a:srgbClr val="222222"/>
                          </a:solidFill>
                          <a:latin typeface="Calibri" pitchFamily="34" charset="0"/>
                          <a:ea typeface="Calibri" pitchFamily="34" charset="-122"/>
                          <a:cs typeface="Calibri" pitchFamily="34" charset="-120"/>
                        </a:rPr>
                        <a:t>NumPago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IdPrestamo → Préstamo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Fecha, Importe</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r>
              <a:tr h="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Personas_A_Cargo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Débil (de Empleado)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u="sng" dirty="0">
                          <a:solidFill>
                            <a:srgbClr val="222222"/>
                          </a:solidFill>
                          <a:latin typeface="Calibri" pitchFamily="34" charset="0"/>
                          <a:ea typeface="Calibri" pitchFamily="34" charset="-122"/>
                          <a:cs typeface="Calibri" pitchFamily="34" charset="-120"/>
                        </a:rPr>
                        <a:t>IdEmpleado</a:t>
                      </a:r>
                      <a:pPr indent="0" marL="0">
                        <a:buNone/>
                      </a:pPr>
                      <a:r>
                        <a:rPr lang="en-US" sz="1300" dirty="0">
                          <a:solidFill>
                            <a:srgbClr val="222222"/>
                          </a:solidFill>
                          <a:latin typeface="Calibri" pitchFamily="34" charset="0"/>
                          <a:ea typeface="Calibri" pitchFamily="34" charset="-122"/>
                          <a:cs typeface="Calibri" pitchFamily="34" charset="-120"/>
                        </a:rPr>
                        <a:t> + </a:t>
                      </a:r>
                      <a:pPr indent="0" marL="0">
                        <a:buNone/>
                      </a:pPr>
                      <a:r>
                        <a:rPr lang="en-US" sz="1300" u="sng" dirty="0">
                          <a:solidFill>
                            <a:srgbClr val="222222"/>
                          </a:solidFill>
                          <a:latin typeface="Calibri" pitchFamily="34" charset="0"/>
                          <a:ea typeface="Calibri" pitchFamily="34" charset="-122"/>
                          <a:cs typeface="Calibri" pitchFamily="34" charset="-120"/>
                        </a:rPr>
                        <a:t>Nombre</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IdEmpleado → Empleado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384048" y="5120640"/>
            <a:ext cx="11338560" cy="731520"/>
          </a:xfrm>
          <a:prstGeom prst="rect">
            <a:avLst/>
          </a:prstGeom>
          <a:noFill/>
          <a:ln/>
        </p:spPr>
        <p:txBody>
          <a:bodyPr wrap="square" lIns="0" tIns="0" rIns="0" bIns="0" rtlCol="0" anchor="t"/>
          <a:lstStyle/>
          <a:p>
            <a:pPr indent="0" marL="0">
              <a:buNone/>
            </a:pPr>
            <a:r>
              <a:rPr lang="en-US" sz="1300" dirty="0">
                <a:solidFill>
                  <a:srgbClr val="444444"/>
                </a:solidFill>
                <a:latin typeface="Calibri" pitchFamily="34" charset="0"/>
                <a:ea typeface="Calibri" pitchFamily="34" charset="-122"/>
                <a:cs typeface="Calibri" pitchFamily="34" charset="-120"/>
              </a:rPr>
              <a:t>Pago y Personas_A_Cargo son entidades débiles: no se pueden identificar solas, necesitan la clave del préstamo o del empleado más un dato propio (NumPago, Nombre). La antigüedad no la guardo, la calculo con la fecha de contratación.</a:t>
            </a:r>
            <a:endParaRPr lang="en-US" sz="1300" dirty="0"/>
          </a:p>
        </p:txBody>
      </p:sp>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Comentarios del E/R: relaciones y cardinalidades</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84048" y="1005840"/>
          <a:ext cx="11430000" cy="914400"/>
        </p:xfrm>
        <a:graphic>
          <a:graphicData uri="http://schemas.openxmlformats.org/drawingml/2006/table">
            <a:tbl>
              <a:tblPr/>
              <a:tblGrid>
                <a:gridCol w="1737360"/>
                <a:gridCol w="2651760"/>
                <a:gridCol w="731520"/>
                <a:gridCol w="1371600"/>
                <a:gridCol w="493776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Relación</a:t>
                      </a:r>
                      <a:endParaRPr lang="en-US" sz="1400" dirty="0">
                        <a:latin typeface="Calibri" charset="0"/>
                        <a:ea typeface="Calibri" charset="0"/>
                        <a:cs typeface="Calibri" charset="0"/>
                      </a:endParaRPr>
                    </a:p>
                  </a:txBody>
                  <a:tcPr marL="73152" marR="73152"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4520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Entidades</a:t>
                      </a:r>
                      <a:endParaRPr lang="en-US" sz="1400" dirty="0">
                        <a:latin typeface="Calibri" charset="0"/>
                        <a:ea typeface="Calibri" charset="0"/>
                        <a:cs typeface="Calibri" charset="0"/>
                      </a:endParaRPr>
                    </a:p>
                  </a:txBody>
                  <a:tcPr marL="73152" marR="73152"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4520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Tipo</a:t>
                      </a:r>
                      <a:endParaRPr lang="en-US" sz="1400" dirty="0">
                        <a:latin typeface="Calibri" charset="0"/>
                        <a:ea typeface="Calibri" charset="0"/>
                        <a:cs typeface="Calibri" charset="0"/>
                      </a:endParaRPr>
                    </a:p>
                  </a:txBody>
                  <a:tcPr marL="73152" marR="73152"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4520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Cardinalidad</a:t>
                      </a:r>
                      <a:endParaRPr lang="en-US" sz="1400" dirty="0">
                        <a:latin typeface="Calibri" charset="0"/>
                        <a:ea typeface="Calibri" charset="0"/>
                        <a:cs typeface="Calibri" charset="0"/>
                      </a:endParaRPr>
                    </a:p>
                  </a:txBody>
                  <a:tcPr marL="73152" marR="73152"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4520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Comentario</a:t>
                      </a:r>
                      <a:endParaRPr lang="en-US" sz="1400" dirty="0">
                        <a:latin typeface="Calibri" charset="0"/>
                        <a:ea typeface="Calibri" charset="0"/>
                        <a:cs typeface="Calibri" charset="0"/>
                      </a:endParaRPr>
                    </a:p>
                  </a:txBody>
                  <a:tcPr marL="73152" marR="73152"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4520F"/>
                    </a:solidFill>
                  </a:tcPr>
                </a:tc>
              </a:tr>
              <a:tr h="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asesora</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Empleado – Cliente</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1:N</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(0,1) / (0,n)</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Un cliente tiene como mucho un asesor; un empleado puede asesorar a varios clientes.</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es jefe de</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Empleado – Empleado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1:N</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(0,1) / (0,n)</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Es una relación del empleado con él mismo: el jefe también es un empleado.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r>
              <a:tr h="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es titular de</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Cliente – Cuenta</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N:M</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(1,n) / (0,n)</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Una cuenta puede tener varios titulares y un cliente varias cuentas. La fecha del último acceso va en la relación porque depende de los dos.</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es titular de</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Cliente – Préstamo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N:M</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(1,n) / (0,n)</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Un préstamo tiene uno o más titulares y un cliente puede pedir varios préstamos.</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r>
              <a:tr h="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concede</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Sucursal – Préstamo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1:N</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(1,1) / (0,n)</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Cada préstamo sale de una sucursal concreta.</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tiene (ID)</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Préstamo – Pago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1:N</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(1,1) / (0,n)</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Pago es entidad débil: se identifica con el préstamo más su número de pago.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r>
              <a:tr h="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depende de / tiene (ID)</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Empleado – Personas_A_Cargo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1:N</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(1,1) / (0,n)</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Personas_A_Cargo es entidad débil: depende del empleado.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es / es de tipo</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Cuenta – CuentaAhorro / CuentaCorriente</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(1,1) / (0,1)</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Toda cuenta es de ahorro o corriente, nunca las dos ni ninguna.</a:t>
                      </a:r>
                      <a:endParaRPr lang="en-US" sz="13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r>
            </a:tbl>
          </a:graphicData>
        </a:graphic>
      </p:graphicFrame>
      <p:sp>
        <p:nvSpPr>
          <p:cNvPr id="5" name="Text 2"/>
          <p:cNvSpPr txBox="1"/>
          <p:nvPr/>
        </p:nvSpPr>
        <p:spPr>
          <a:xfrm>
            <a:off x="384048" y="5669280"/>
            <a:ext cx="11338560" cy="731520"/>
          </a:xfrm>
          <a:prstGeom prst="rect">
            <a:avLst/>
          </a:prstGeom>
          <a:noFill/>
          <a:ln/>
        </p:spPr>
        <p:txBody>
          <a:bodyPr wrap="square" lIns="0" tIns="0" rIns="0" bIns="0" rtlCol="0" anchor="t"/>
          <a:lstStyle/>
          <a:p>
            <a:pPr indent="0" marL="0">
              <a:buNone/>
            </a:pPr>
            <a:r>
              <a:rPr lang="en-US" sz="1300" dirty="0">
                <a:solidFill>
                  <a:srgbClr val="444444"/>
                </a:solidFill>
                <a:latin typeface="Calibri" pitchFamily="34" charset="0"/>
                <a:ea typeface="Calibri" pitchFamily="34" charset="-122"/>
                <a:cs typeface="Calibri" pitchFamily="34" charset="-120"/>
              </a:rPr>
              <a:t>Leo cada (mín,máx) así: cuántos elementos hay de una entidad por cada elemento de la otra.</a:t>
            </a:r>
            <a:endParaRPr lang="en-US" sz="1300" dirty="0"/>
          </a:p>
        </p:txBody>
      </p:sp>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Diagrama relacional</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pic>
        <p:nvPicPr>
          <p:cNvPr id="4" name="Image 0" descr="Diagrama relacional generado en MySQL Workbench">    </p:cNvPr>
          <p:cNvPicPr>
            <a:picLocks noChangeAspect="1"/>
          </p:cNvPicPr>
          <p:nvPr/>
        </p:nvPicPr>
        <p:blipFill>
          <a:blip r:embed="rId1"/>
          <a:stretch>
            <a:fillRect/>
          </a:stretch>
        </p:blipFill>
        <p:spPr>
          <a:xfrm>
            <a:off x="1598122" y="960120"/>
            <a:ext cx="9001852" cy="5349240"/>
          </a:xfrm>
          <a:prstGeom prst="rect">
            <a:avLst/>
          </a:prstGeom>
        </p:spPr>
      </p:pic>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Coherencia entre el diagrama E/R y el relacional</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84048" y="1005840"/>
          <a:ext cx="11430000" cy="914400"/>
        </p:xfrm>
        <a:graphic>
          <a:graphicData uri="http://schemas.openxmlformats.org/drawingml/2006/table">
            <a:tbl>
              <a:tblPr/>
              <a:tblGrid>
                <a:gridCol w="2560320"/>
                <a:gridCol w="3840480"/>
                <a:gridCol w="5029200"/>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Elemento del E/R</a:t>
                      </a:r>
                      <a:endParaRPr lang="en-US" sz="1500" dirty="0">
                        <a:latin typeface="Calibri" charset="0"/>
                        <a:ea typeface="Calibri" charset="0"/>
                        <a:cs typeface="Calibri" charset="0"/>
                      </a:endParaRPr>
                    </a:p>
                  </a:txBody>
                  <a:tcPr marL="73152" marR="73152"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4520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Se convierte en…</a:t>
                      </a:r>
                      <a:endParaRPr lang="en-US" sz="1500" dirty="0">
                        <a:latin typeface="Calibri" charset="0"/>
                        <a:ea typeface="Calibri" charset="0"/>
                        <a:cs typeface="Calibri" charset="0"/>
                      </a:endParaRPr>
                    </a:p>
                  </a:txBody>
                  <a:tcPr marL="73152" marR="73152"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4520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 este proyecto</a:t>
                      </a:r>
                      <a:endParaRPr lang="en-US" sz="1500" dirty="0">
                        <a:latin typeface="Calibri" charset="0"/>
                        <a:ea typeface="Calibri" charset="0"/>
                        <a:cs typeface="Calibri" charset="0"/>
                      </a:endParaRPr>
                    </a:p>
                  </a:txBody>
                  <a:tcPr marL="73152" marR="73152"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4520F"/>
                    </a:solidFill>
                  </a:tcPr>
                </a:tc>
              </a:tr>
              <a:tr h="0">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Entidad fuerte</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Una tabla con su clave primaria</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SUCURSAL, EMPLEADO, CLIENTE, CUENTA, PRESTAMO</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Relación 1:N</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La clave foránea va en la tabla del lado N</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CLIENTE.ID_EMPLEADO (asesor), EMPLEADO.ID_JEFE, PRESTAMO.NOMBRE_SUCURSAL</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r>
              <a:tr h="0">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Relación N:M</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Una tabla intermedia con las dos claves</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CUENTA_CLIENTE (con FECHA del último acceso), CLIENTE_PRESTAMO</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Entidad débil</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Clave compuesta: la del dueño más el dato propio</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PAGO (ID, NUM_PAGO), PERSONAS_A_CARGO (ID_EMPLEADO, NOMBRE)</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r>
              <a:tr h="0">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Especialización de Cuenta</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Una tabla por tipo; su clave es también foránea hacia CUENTA</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C_AHORROS (TASAS), C_CORRIENTE (DESCUBIERTO)</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Atributo derivado</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No lo guardo, lo calculo al consultar</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400" dirty="0">
                          <a:solidFill>
                            <a:srgbClr val="222222"/>
                          </a:solidFill>
                          <a:latin typeface="Calibri" pitchFamily="34" charset="0"/>
                          <a:ea typeface="Calibri" pitchFamily="34" charset="-122"/>
                          <a:cs typeface="Calibri" pitchFamily="34" charset="-120"/>
                        </a:rPr>
                        <a:t>Antigüedad = TIMESTAMPDIFF(YEAR, FECHA, CURDATE())</a:t>
                      </a:r>
                      <a:endParaRPr lang="en-US" sz="14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r>
            </a:tbl>
          </a:graphicData>
        </a:graphic>
      </p:graphicFrame>
      <p:sp>
        <p:nvSpPr>
          <p:cNvPr id="5" name="Text 2"/>
          <p:cNvSpPr txBox="1"/>
          <p:nvPr/>
        </p:nvSpPr>
        <p:spPr>
          <a:xfrm>
            <a:off x="384048" y="5212080"/>
            <a:ext cx="11338560" cy="731520"/>
          </a:xfrm>
          <a:prstGeom prst="rect">
            <a:avLst/>
          </a:prstGeom>
          <a:noFill/>
          <a:ln/>
        </p:spPr>
        <p:txBody>
          <a:bodyPr wrap="square" lIns="0" tIns="0" rIns="0" bIns="0" rtlCol="0" anchor="t"/>
          <a:lstStyle/>
          <a:p>
            <a:pPr indent="0" marL="0">
              <a:buNone/>
            </a:pPr>
            <a:r>
              <a:rPr lang="en-US" sz="1300" dirty="0">
                <a:solidFill>
                  <a:srgbClr val="444444"/>
                </a:solidFill>
                <a:latin typeface="Calibri" pitchFamily="34" charset="0"/>
                <a:ea typeface="Calibri" pitchFamily="34" charset="-122"/>
                <a:cs typeface="Calibri" pitchFamily="34" charset="-120"/>
              </a:rPr>
              <a:t>Algunos nombres cambian entre el E/R y las tablas: ID en PAGO es IdPrestamo, ID en CUENTA_CLIENTE es IdCliente, ID_P en PRESTAMO es IdPrestamo, FECHA en EMPLEADO es FechaContratacion y TASAS es TasaInteres. Son los mismos atributos con otro nombre. Las 11 tablas salen de las 9 entidades y las 2 relaciones N:M.</a:t>
            </a:r>
            <a:endParaRPr lang="en-US" sz="1300" dirty="0"/>
          </a:p>
        </p:txBody>
      </p:sp>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MySQL: creación de tablas y relaciones</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pic>
        <p:nvPicPr>
          <p:cNvPr id="4" name="Image 0" descr="Salida de Workbench del CREATE TABLE">    </p:cNvPr>
          <p:cNvPicPr>
            <a:picLocks noChangeAspect="1"/>
          </p:cNvPicPr>
          <p:nvPr/>
        </p:nvPicPr>
        <p:blipFill>
          <a:blip r:embed="rId1"/>
          <a:stretch>
            <a:fillRect/>
          </a:stretch>
        </p:blipFill>
        <p:spPr>
          <a:xfrm>
            <a:off x="384048" y="914400"/>
            <a:ext cx="11430000" cy="2512284"/>
          </a:xfrm>
          <a:prstGeom prst="rect">
            <a:avLst/>
          </a:prstGeom>
        </p:spPr>
      </p:pic>
      <p:sp>
        <p:nvSpPr>
          <p:cNvPr id="5" name="Text 2"/>
          <p:cNvSpPr txBox="1"/>
          <p:nvPr/>
        </p:nvSpPr>
        <p:spPr>
          <a:xfrm>
            <a:off x="384048" y="3472404"/>
            <a:ext cx="11430000" cy="320040"/>
          </a:xfrm>
          <a:prstGeom prst="rect">
            <a:avLst/>
          </a:prstGeom>
          <a:noFill/>
          <a:ln/>
        </p:spPr>
        <p:txBody>
          <a:bodyPr wrap="square" lIns="0" tIns="0" rIns="0" bIns="0" rtlCol="0" anchor="ctr"/>
          <a:lstStyle/>
          <a:p>
            <a:pPr algn="ctr" indent="0" marL="0">
              <a:buNone/>
            </a:pPr>
            <a:r>
              <a:rPr lang="en-US" sz="1200" dirty="0">
                <a:solidFill>
                  <a:srgbClr val="333333"/>
                </a:solidFill>
                <a:latin typeface="Calibri" pitchFamily="34" charset="0"/>
                <a:ea typeface="Calibri" pitchFamily="34" charset="-122"/>
                <a:cs typeface="Calibri" pitchFamily="34" charset="-120"/>
              </a:rPr>
              <a:t>Salida de Workbench: creé la base, usé banco y ejecuté los CREATE TABLE sin errores (la última, PERSONAS_A_CARGO, se ve en el SHOW TABLES)</a:t>
            </a:r>
            <a:endParaRPr lang="en-US" sz="1200" dirty="0"/>
          </a:p>
        </p:txBody>
      </p:sp>
      <p:pic>
        <p:nvPicPr>
          <p:cNvPr id="6" name="Image 1" descr="SHOW TABLES">    </p:cNvPr>
          <p:cNvPicPr>
            <a:picLocks noChangeAspect="1"/>
          </p:cNvPicPr>
          <p:nvPr/>
        </p:nvPicPr>
        <p:blipFill>
          <a:blip r:embed="rId2"/>
          <a:stretch>
            <a:fillRect/>
          </a:stretch>
        </p:blipFill>
        <p:spPr>
          <a:xfrm>
            <a:off x="1458394" y="3883884"/>
            <a:ext cx="1874668" cy="2196876"/>
          </a:xfrm>
          <a:prstGeom prst="rect">
            <a:avLst/>
          </a:prstGeom>
        </p:spPr>
      </p:pic>
      <p:sp>
        <p:nvSpPr>
          <p:cNvPr id="7" name="Text 3"/>
          <p:cNvSpPr txBox="1"/>
          <p:nvPr/>
        </p:nvSpPr>
        <p:spPr>
          <a:xfrm>
            <a:off x="384048" y="6126480"/>
            <a:ext cx="4023360" cy="274320"/>
          </a:xfrm>
          <a:prstGeom prst="rect">
            <a:avLst/>
          </a:prstGeom>
          <a:noFill/>
          <a:ln/>
        </p:spPr>
        <p:txBody>
          <a:bodyPr wrap="square" lIns="0" tIns="0" rIns="0" bIns="0" rtlCol="0" anchor="ctr"/>
          <a:lstStyle/>
          <a:p>
            <a:pPr algn="ctr" indent="0" marL="0">
              <a:buNone/>
            </a:pPr>
            <a:r>
              <a:rPr lang="en-US" sz="1200" dirty="0">
                <a:solidFill>
                  <a:srgbClr val="333333"/>
                </a:solidFill>
                <a:latin typeface="Calibri" pitchFamily="34" charset="0"/>
                <a:ea typeface="Calibri" pitchFamily="34" charset="-122"/>
                <a:cs typeface="Calibri" pitchFamily="34" charset="-120"/>
              </a:rPr>
              <a:t>SHOW TABLES: las 11 tablas de la base banco</a:t>
            </a:r>
            <a:endParaRPr lang="en-US" sz="1200" dirty="0"/>
          </a:p>
        </p:txBody>
      </p:sp>
      <p:sp>
        <p:nvSpPr>
          <p:cNvPr id="8" name="Text 4"/>
          <p:cNvSpPr txBox="1"/>
          <p:nvPr/>
        </p:nvSpPr>
        <p:spPr>
          <a:xfrm>
            <a:off x="4846320" y="4249644"/>
            <a:ext cx="6858000" cy="1645920"/>
          </a:xfrm>
          <a:prstGeom prst="rect">
            <a:avLst/>
          </a:prstGeom>
          <a:noFill/>
          <a:ln/>
        </p:spPr>
        <p:txBody>
          <a:bodyPr wrap="square" rtlCol="0" anchor="t"/>
          <a:lstStyle/>
          <a:p>
            <a:pPr marL="342900" indent="-342900">
              <a:spcAft>
                <a:spcPts val="800"/>
              </a:spcAft>
              <a:buSzPct val="100000"/>
              <a:buChar char="•"/>
            </a:pPr>
            <a:r>
              <a:rPr lang="en-US" sz="1700" dirty="0">
                <a:solidFill>
                  <a:srgbClr val="222222"/>
                </a:solidFill>
                <a:latin typeface="Calibri" pitchFamily="34" charset="0"/>
                <a:ea typeface="Calibri" pitchFamily="34" charset="-122"/>
                <a:cs typeface="Calibri" pitchFamily="34" charset="-120"/>
              </a:rPr>
              <a:t>Definí las claves primarias y foráneas con PRIMARY KEY y FOREIGN KEY.</a:t>
            </a:r>
            <a:endParaRPr lang="en-US" sz="1700" dirty="0"/>
          </a:p>
          <a:p>
            <a:pPr marL="342900" indent="-342900">
              <a:spcAft>
                <a:spcPts val="800"/>
              </a:spcAft>
              <a:buSzPct val="100000"/>
              <a:buChar char="•"/>
            </a:pPr>
            <a:r>
              <a:rPr lang="en-US" sz="1700" dirty="0">
                <a:solidFill>
                  <a:srgbClr val="222222"/>
                </a:solidFill>
                <a:latin typeface="Calibri" pitchFamily="34" charset="0"/>
                <a:ea typeface="Calibri" pitchFamily="34" charset="-122"/>
                <a:cs typeface="Calibri" pitchFamily="34" charset="-120"/>
              </a:rPr>
              <a:t>Creé las tablas en orden: primero las que no dependen de otras.</a:t>
            </a:r>
            <a:endParaRPr lang="en-US" sz="1700" dirty="0"/>
          </a:p>
          <a:p>
            <a:pPr marL="342900" indent="-342900">
              <a:spcAft>
                <a:spcPts val="800"/>
              </a:spcAft>
              <a:buSzPct val="100000"/>
              <a:buChar char="•"/>
            </a:pPr>
            <a:r>
              <a:rPr lang="en-US" sz="1700" dirty="0">
                <a:solidFill>
                  <a:srgbClr val="222222"/>
                </a:solidFill>
                <a:latin typeface="Calibri" pitchFamily="34" charset="0"/>
                <a:ea typeface="Calibri" pitchFamily="34" charset="-122"/>
                <a:cs typeface="Calibri" pitchFamily="34" charset="-120"/>
              </a:rPr>
              <a:t>No usé borrado en cascada (lo explico en las conclusiones).</a:t>
            </a:r>
            <a:endParaRPr lang="en-US" sz="1700" dirty="0"/>
          </a:p>
        </p:txBody>
      </p:sp>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MySQL: inserción de datos</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pic>
        <p:nvPicPr>
          <p:cNvPr id="4" name="Image 0" descr="Script de INSERT y salida">    </p:cNvPr>
          <p:cNvPicPr>
            <a:picLocks noChangeAspect="1"/>
          </p:cNvPicPr>
          <p:nvPr/>
        </p:nvPicPr>
        <p:blipFill>
          <a:blip r:embed="rId1"/>
          <a:stretch>
            <a:fillRect/>
          </a:stretch>
        </p:blipFill>
        <p:spPr>
          <a:xfrm>
            <a:off x="1540437" y="914400"/>
            <a:ext cx="9117221" cy="5029200"/>
          </a:xfrm>
          <a:prstGeom prst="rect">
            <a:avLst/>
          </a:prstGeom>
        </p:spPr>
      </p:pic>
      <p:sp>
        <p:nvSpPr>
          <p:cNvPr id="5" name="Text 2"/>
          <p:cNvSpPr txBox="1"/>
          <p:nvPr/>
        </p:nvSpPr>
        <p:spPr>
          <a:xfrm>
            <a:off x="384048" y="5998464"/>
            <a:ext cx="11430000" cy="320040"/>
          </a:xfrm>
          <a:prstGeom prst="rect">
            <a:avLst/>
          </a:prstGeom>
          <a:noFill/>
          <a:ln/>
        </p:spPr>
        <p:txBody>
          <a:bodyPr wrap="square" lIns="0" tIns="0" rIns="0" bIns="0" rtlCol="0" anchor="ctr"/>
          <a:lstStyle/>
          <a:p>
            <a:pPr algn="ctr" indent="0" marL="0">
              <a:buNone/>
            </a:pPr>
            <a:r>
              <a:rPr lang="en-US" sz="1200" dirty="0">
                <a:solidFill>
                  <a:srgbClr val="333333"/>
                </a:solidFill>
                <a:latin typeface="Calibri" pitchFamily="34" charset="0"/>
                <a:ea typeface="Calibri" pitchFamily="34" charset="-122"/>
                <a:cs typeface="Calibri" pitchFamily="34" charset="-120"/>
              </a:rPr>
              <a:t>Script de INSERT y salida de Workbench: los INSERT se ejecutaron sin advertencias; los SELECT siguientes comprueban las 11 tablas</a:t>
            </a:r>
            <a:endParaRPr lang="en-US" sz="1200" dirty="0"/>
          </a:p>
        </p:txBody>
      </p:sp>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SELECT de cada tabla (1/4)</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pic>
        <p:nvPicPr>
          <p:cNvPr id="4" name="Image 0" descr="SUCURSAL">    </p:cNvPr>
          <p:cNvPicPr>
            <a:picLocks noChangeAspect="1"/>
          </p:cNvPicPr>
          <p:nvPr/>
        </p:nvPicPr>
        <p:blipFill>
          <a:blip r:embed="rId1"/>
          <a:stretch>
            <a:fillRect/>
          </a:stretch>
        </p:blipFill>
        <p:spPr>
          <a:xfrm>
            <a:off x="384048" y="1005840"/>
            <a:ext cx="3657600" cy="3149178"/>
          </a:xfrm>
          <a:prstGeom prst="rect">
            <a:avLst/>
          </a:prstGeom>
        </p:spPr>
      </p:pic>
      <p:sp>
        <p:nvSpPr>
          <p:cNvPr id="5" name="Text 2"/>
          <p:cNvSpPr txBox="1"/>
          <p:nvPr/>
        </p:nvSpPr>
        <p:spPr>
          <a:xfrm>
            <a:off x="384048" y="4228170"/>
            <a:ext cx="36576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SUCURSAL</a:t>
            </a:r>
            <a:endParaRPr lang="en-US" sz="1200" dirty="0"/>
          </a:p>
        </p:txBody>
      </p:sp>
      <p:pic>
        <p:nvPicPr>
          <p:cNvPr id="6" name="Image 1" descr="EMPLEADO">    </p:cNvPr>
          <p:cNvPicPr>
            <a:picLocks noChangeAspect="1"/>
          </p:cNvPicPr>
          <p:nvPr/>
        </p:nvPicPr>
        <p:blipFill>
          <a:blip r:embed="rId2"/>
          <a:stretch>
            <a:fillRect/>
          </a:stretch>
        </p:blipFill>
        <p:spPr>
          <a:xfrm>
            <a:off x="4270248" y="1005840"/>
            <a:ext cx="3657600" cy="3547950"/>
          </a:xfrm>
          <a:prstGeom prst="rect">
            <a:avLst/>
          </a:prstGeom>
        </p:spPr>
      </p:pic>
      <p:sp>
        <p:nvSpPr>
          <p:cNvPr id="7" name="Text 3"/>
          <p:cNvSpPr txBox="1"/>
          <p:nvPr/>
        </p:nvSpPr>
        <p:spPr>
          <a:xfrm>
            <a:off x="4270248" y="4626942"/>
            <a:ext cx="36576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EMPLEADO</a:t>
            </a:r>
            <a:endParaRPr lang="en-US" sz="1200" dirty="0"/>
          </a:p>
        </p:txBody>
      </p:sp>
      <p:pic>
        <p:nvPicPr>
          <p:cNvPr id="8" name="Image 2" descr="CLIENTE">    </p:cNvPr>
          <p:cNvPicPr>
            <a:picLocks noChangeAspect="1"/>
          </p:cNvPicPr>
          <p:nvPr/>
        </p:nvPicPr>
        <p:blipFill>
          <a:blip r:embed="rId3"/>
          <a:stretch>
            <a:fillRect/>
          </a:stretch>
        </p:blipFill>
        <p:spPr>
          <a:xfrm>
            <a:off x="8156448" y="1005840"/>
            <a:ext cx="3657600" cy="2571117"/>
          </a:xfrm>
          <a:prstGeom prst="rect">
            <a:avLst/>
          </a:prstGeom>
        </p:spPr>
      </p:pic>
      <p:sp>
        <p:nvSpPr>
          <p:cNvPr id="9" name="Text 4"/>
          <p:cNvSpPr txBox="1"/>
          <p:nvPr/>
        </p:nvSpPr>
        <p:spPr>
          <a:xfrm>
            <a:off x="8156448" y="3650109"/>
            <a:ext cx="36576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CLIENTE</a:t>
            </a:r>
            <a:endParaRPr lang="en-US" sz="1200" dirty="0"/>
          </a:p>
        </p:txBody>
      </p:sp>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SELECT de cada tabla (2/4)</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pic>
        <p:nvPicPr>
          <p:cNvPr id="4" name="Image 0" descr="CUENTA (el saldo de la 101 ya viene de un UPDATE previo)">    </p:cNvPr>
          <p:cNvPicPr>
            <a:picLocks noChangeAspect="1"/>
          </p:cNvPicPr>
          <p:nvPr/>
        </p:nvPicPr>
        <p:blipFill>
          <a:blip r:embed="rId1"/>
          <a:stretch>
            <a:fillRect/>
          </a:stretch>
        </p:blipFill>
        <p:spPr>
          <a:xfrm>
            <a:off x="399764" y="1005840"/>
            <a:ext cx="3626168" cy="4297680"/>
          </a:xfrm>
          <a:prstGeom prst="rect">
            <a:avLst/>
          </a:prstGeom>
        </p:spPr>
      </p:pic>
      <p:sp>
        <p:nvSpPr>
          <p:cNvPr id="5" name="Text 2"/>
          <p:cNvSpPr txBox="1"/>
          <p:nvPr/>
        </p:nvSpPr>
        <p:spPr>
          <a:xfrm>
            <a:off x="384048" y="5376672"/>
            <a:ext cx="36576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CUENTA (el saldo de la 101 ya viene de un UPDATE previo)</a:t>
            </a:r>
            <a:endParaRPr lang="en-US" sz="1200" dirty="0"/>
          </a:p>
        </p:txBody>
      </p:sp>
      <p:pic>
        <p:nvPicPr>
          <p:cNvPr id="6" name="Image 1" descr="C_AHORROS">    </p:cNvPr>
          <p:cNvPicPr>
            <a:picLocks noChangeAspect="1"/>
          </p:cNvPicPr>
          <p:nvPr/>
        </p:nvPicPr>
        <p:blipFill>
          <a:blip r:embed="rId2"/>
          <a:stretch>
            <a:fillRect/>
          </a:stretch>
        </p:blipFill>
        <p:spPr>
          <a:xfrm>
            <a:off x="4456568" y="1005840"/>
            <a:ext cx="3284959" cy="4297680"/>
          </a:xfrm>
          <a:prstGeom prst="rect">
            <a:avLst/>
          </a:prstGeom>
        </p:spPr>
      </p:pic>
      <p:sp>
        <p:nvSpPr>
          <p:cNvPr id="7" name="Text 3"/>
          <p:cNvSpPr txBox="1"/>
          <p:nvPr/>
        </p:nvSpPr>
        <p:spPr>
          <a:xfrm>
            <a:off x="4270248" y="5376672"/>
            <a:ext cx="36576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C_AHORROS</a:t>
            </a:r>
            <a:endParaRPr lang="en-US" sz="1200" dirty="0"/>
          </a:p>
        </p:txBody>
      </p:sp>
      <p:pic>
        <p:nvPicPr>
          <p:cNvPr id="8" name="Image 2" descr="C_CORRIENTE">    </p:cNvPr>
          <p:cNvPicPr>
            <a:picLocks noChangeAspect="1"/>
          </p:cNvPicPr>
          <p:nvPr/>
        </p:nvPicPr>
        <p:blipFill>
          <a:blip r:embed="rId3"/>
          <a:stretch>
            <a:fillRect/>
          </a:stretch>
        </p:blipFill>
        <p:spPr>
          <a:xfrm>
            <a:off x="8375645" y="1005840"/>
            <a:ext cx="3219206" cy="4297680"/>
          </a:xfrm>
          <a:prstGeom prst="rect">
            <a:avLst/>
          </a:prstGeom>
        </p:spPr>
      </p:pic>
      <p:sp>
        <p:nvSpPr>
          <p:cNvPr id="9" name="Text 4"/>
          <p:cNvSpPr txBox="1"/>
          <p:nvPr/>
        </p:nvSpPr>
        <p:spPr>
          <a:xfrm>
            <a:off x="8156448" y="5376672"/>
            <a:ext cx="36576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C_CORRIENTE</a:t>
            </a:r>
            <a:endParaRPr lang="en-US" sz="1200" dirty="0"/>
          </a:p>
        </p:txBody>
      </p:sp>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SELECT de cada tabla (3/4)</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pic>
        <p:nvPicPr>
          <p:cNvPr id="4" name="Image 0" descr="PRESTAMO">    </p:cNvPr>
          <p:cNvPicPr>
            <a:picLocks noChangeAspect="1"/>
          </p:cNvPicPr>
          <p:nvPr/>
        </p:nvPicPr>
        <p:blipFill>
          <a:blip r:embed="rId1"/>
          <a:stretch>
            <a:fillRect/>
          </a:stretch>
        </p:blipFill>
        <p:spPr>
          <a:xfrm>
            <a:off x="627638" y="1005840"/>
            <a:ext cx="3170420" cy="4297680"/>
          </a:xfrm>
          <a:prstGeom prst="rect">
            <a:avLst/>
          </a:prstGeom>
        </p:spPr>
      </p:pic>
      <p:sp>
        <p:nvSpPr>
          <p:cNvPr id="5" name="Text 2"/>
          <p:cNvSpPr txBox="1"/>
          <p:nvPr/>
        </p:nvSpPr>
        <p:spPr>
          <a:xfrm>
            <a:off x="384048" y="5376672"/>
            <a:ext cx="36576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PRESTAMO</a:t>
            </a:r>
            <a:endParaRPr lang="en-US" sz="1200" dirty="0"/>
          </a:p>
        </p:txBody>
      </p:sp>
      <p:pic>
        <p:nvPicPr>
          <p:cNvPr id="6" name="Image 1" descr="PAGO">    </p:cNvPr>
          <p:cNvPicPr>
            <a:picLocks noChangeAspect="1"/>
          </p:cNvPicPr>
          <p:nvPr/>
        </p:nvPicPr>
        <p:blipFill>
          <a:blip r:embed="rId2"/>
          <a:stretch>
            <a:fillRect/>
          </a:stretch>
        </p:blipFill>
        <p:spPr>
          <a:xfrm>
            <a:off x="4270248" y="1005840"/>
            <a:ext cx="3657600" cy="1319055"/>
          </a:xfrm>
          <a:prstGeom prst="rect">
            <a:avLst/>
          </a:prstGeom>
        </p:spPr>
      </p:pic>
      <p:sp>
        <p:nvSpPr>
          <p:cNvPr id="7" name="Text 3"/>
          <p:cNvSpPr txBox="1"/>
          <p:nvPr/>
        </p:nvSpPr>
        <p:spPr>
          <a:xfrm>
            <a:off x="4270248" y="2398047"/>
            <a:ext cx="36576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PAGO</a:t>
            </a:r>
            <a:endParaRPr lang="en-US" sz="1200" dirty="0"/>
          </a:p>
        </p:txBody>
      </p:sp>
      <p:pic>
        <p:nvPicPr>
          <p:cNvPr id="8" name="Image 2" descr="CUENTA_CLIENTE">    </p:cNvPr>
          <p:cNvPicPr>
            <a:picLocks noChangeAspect="1"/>
          </p:cNvPicPr>
          <p:nvPr/>
        </p:nvPicPr>
        <p:blipFill>
          <a:blip r:embed="rId3"/>
          <a:stretch>
            <a:fillRect/>
          </a:stretch>
        </p:blipFill>
        <p:spPr>
          <a:xfrm>
            <a:off x="8202419" y="1005840"/>
            <a:ext cx="3565658" cy="4297680"/>
          </a:xfrm>
          <a:prstGeom prst="rect">
            <a:avLst/>
          </a:prstGeom>
        </p:spPr>
      </p:pic>
      <p:sp>
        <p:nvSpPr>
          <p:cNvPr id="9" name="Text 4"/>
          <p:cNvSpPr txBox="1"/>
          <p:nvPr/>
        </p:nvSpPr>
        <p:spPr>
          <a:xfrm>
            <a:off x="8156448" y="5376672"/>
            <a:ext cx="36576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CUENTA_CLIENTE</a:t>
            </a:r>
            <a:endParaRPr lang="en-US" sz="1200" dirty="0"/>
          </a:p>
        </p:txBody>
      </p:sp>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SELECT de cada tabla (4/4)</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pic>
        <p:nvPicPr>
          <p:cNvPr id="4" name="Image 0" descr="CLIENTE_PRESTAMO">    </p:cNvPr>
          <p:cNvPicPr>
            <a:picLocks noChangeAspect="1"/>
          </p:cNvPicPr>
          <p:nvPr/>
        </p:nvPicPr>
        <p:blipFill>
          <a:blip r:embed="rId1"/>
          <a:stretch>
            <a:fillRect/>
          </a:stretch>
        </p:blipFill>
        <p:spPr>
          <a:xfrm>
            <a:off x="1852292" y="1005840"/>
            <a:ext cx="2664212" cy="4297680"/>
          </a:xfrm>
          <a:prstGeom prst="rect">
            <a:avLst/>
          </a:prstGeom>
        </p:spPr>
      </p:pic>
      <p:sp>
        <p:nvSpPr>
          <p:cNvPr id="5" name="Text 2"/>
          <p:cNvSpPr txBox="1"/>
          <p:nvPr/>
        </p:nvSpPr>
        <p:spPr>
          <a:xfrm>
            <a:off x="384048" y="5376672"/>
            <a:ext cx="56007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CLIENTE_PRESTAMO</a:t>
            </a:r>
            <a:endParaRPr lang="en-US" sz="1200" dirty="0"/>
          </a:p>
        </p:txBody>
      </p:sp>
      <p:pic>
        <p:nvPicPr>
          <p:cNvPr id="6" name="Image 1" descr="PERSONAS_A_CARGO">    </p:cNvPr>
          <p:cNvPicPr>
            <a:picLocks noChangeAspect="1"/>
          </p:cNvPicPr>
          <p:nvPr/>
        </p:nvPicPr>
        <p:blipFill>
          <a:blip r:embed="rId2"/>
          <a:stretch>
            <a:fillRect/>
          </a:stretch>
        </p:blipFill>
        <p:spPr>
          <a:xfrm>
            <a:off x="7370240" y="1005840"/>
            <a:ext cx="3286915" cy="4297680"/>
          </a:xfrm>
          <a:prstGeom prst="rect">
            <a:avLst/>
          </a:prstGeom>
        </p:spPr>
      </p:pic>
      <p:sp>
        <p:nvSpPr>
          <p:cNvPr id="7" name="Text 3"/>
          <p:cNvSpPr txBox="1"/>
          <p:nvPr/>
        </p:nvSpPr>
        <p:spPr>
          <a:xfrm>
            <a:off x="6213348" y="5376672"/>
            <a:ext cx="56007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PERSONAS_A_CARGO</a:t>
            </a:r>
            <a:endParaRPr lang="en-US" sz="1200" dirty="0"/>
          </a:p>
        </p:txBody>
      </p:sp>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Consultas con datos de varias tablas (1/3)</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pic>
        <p:nvPicPr>
          <p:cNvPr id="4" name="Image 0" descr="1) Cada cliente con su asesor (Elena Vega no tiene asesor y por eso no sale)">    </p:cNvPr>
          <p:cNvPicPr>
            <a:picLocks noChangeAspect="1"/>
          </p:cNvPicPr>
          <p:nvPr/>
        </p:nvPicPr>
        <p:blipFill>
          <a:blip r:embed="rId1"/>
          <a:stretch>
            <a:fillRect/>
          </a:stretch>
        </p:blipFill>
        <p:spPr>
          <a:xfrm>
            <a:off x="384048" y="1005840"/>
            <a:ext cx="5600700" cy="3635542"/>
          </a:xfrm>
          <a:prstGeom prst="rect">
            <a:avLst/>
          </a:prstGeom>
        </p:spPr>
      </p:pic>
      <p:sp>
        <p:nvSpPr>
          <p:cNvPr id="5" name="Text 2"/>
          <p:cNvSpPr txBox="1"/>
          <p:nvPr/>
        </p:nvSpPr>
        <p:spPr>
          <a:xfrm>
            <a:off x="384048" y="4714534"/>
            <a:ext cx="56007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1) Cada cliente con su asesor (Elena Vega no tiene asesor y por eso no sale)</a:t>
            </a:r>
            <a:endParaRPr lang="en-US" sz="1200" dirty="0"/>
          </a:p>
        </p:txBody>
      </p:sp>
      <p:pic>
        <p:nvPicPr>
          <p:cNvPr id="6" name="Image 1" descr="2) Cuentas de cada cliente con su saldo y último acceso">    </p:cNvPr>
          <p:cNvPicPr>
            <a:picLocks noChangeAspect="1"/>
          </p:cNvPicPr>
          <p:nvPr/>
        </p:nvPicPr>
        <p:blipFill>
          <a:blip r:embed="rId2"/>
          <a:stretch>
            <a:fillRect/>
          </a:stretch>
        </p:blipFill>
        <p:spPr>
          <a:xfrm>
            <a:off x="6213348" y="1005840"/>
            <a:ext cx="5600700" cy="3041693"/>
          </a:xfrm>
          <a:prstGeom prst="rect">
            <a:avLst/>
          </a:prstGeom>
        </p:spPr>
      </p:pic>
      <p:sp>
        <p:nvSpPr>
          <p:cNvPr id="7" name="Text 3"/>
          <p:cNvSpPr txBox="1"/>
          <p:nvPr/>
        </p:nvSpPr>
        <p:spPr>
          <a:xfrm>
            <a:off x="6213348" y="4120685"/>
            <a:ext cx="56007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2) Cuentas de cada cliente con su saldo y último acceso</a:t>
            </a:r>
            <a:endParaRPr lang="en-US" sz="1200" dirty="0"/>
          </a:p>
        </p:txBody>
      </p:sp>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Consultas con datos de varias tablas (2/3)</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pic>
        <p:nvPicPr>
          <p:cNvPr id="4" name="Image 0" descr="3) Préstamos con su sucursal y sus titulares">    </p:cNvPr>
          <p:cNvPicPr>
            <a:picLocks noChangeAspect="1"/>
          </p:cNvPicPr>
          <p:nvPr/>
        </p:nvPicPr>
        <p:blipFill>
          <a:blip r:embed="rId1"/>
          <a:stretch>
            <a:fillRect/>
          </a:stretch>
        </p:blipFill>
        <p:spPr>
          <a:xfrm>
            <a:off x="634029" y="1005840"/>
            <a:ext cx="5100737" cy="4297680"/>
          </a:xfrm>
          <a:prstGeom prst="rect">
            <a:avLst/>
          </a:prstGeom>
        </p:spPr>
      </p:pic>
      <p:sp>
        <p:nvSpPr>
          <p:cNvPr id="5" name="Text 2"/>
          <p:cNvSpPr txBox="1"/>
          <p:nvPr/>
        </p:nvSpPr>
        <p:spPr>
          <a:xfrm>
            <a:off x="384048" y="5376672"/>
            <a:ext cx="56007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3) Préstamos con su sucursal y sus titulares</a:t>
            </a:r>
            <a:endParaRPr lang="en-US" sz="1200" dirty="0"/>
          </a:p>
        </p:txBody>
      </p:sp>
      <p:pic>
        <p:nvPicPr>
          <p:cNvPr id="6" name="Image 1" descr="4) Cada empleado con su jefe (LEFT JOIN)">    </p:cNvPr>
          <p:cNvPicPr>
            <a:picLocks noChangeAspect="1"/>
          </p:cNvPicPr>
          <p:nvPr/>
        </p:nvPicPr>
        <p:blipFill>
          <a:blip r:embed="rId2"/>
          <a:stretch>
            <a:fillRect/>
          </a:stretch>
        </p:blipFill>
        <p:spPr>
          <a:xfrm>
            <a:off x="6213348" y="1005840"/>
            <a:ext cx="5600700" cy="4154549"/>
          </a:xfrm>
          <a:prstGeom prst="rect">
            <a:avLst/>
          </a:prstGeom>
        </p:spPr>
      </p:pic>
      <p:sp>
        <p:nvSpPr>
          <p:cNvPr id="7" name="Text 3"/>
          <p:cNvSpPr txBox="1"/>
          <p:nvPr/>
        </p:nvSpPr>
        <p:spPr>
          <a:xfrm>
            <a:off x="6213348" y="5233541"/>
            <a:ext cx="56007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4) Cada empleado con su jefe (LEFT JOIN)</a:t>
            </a:r>
            <a:endParaRPr lang="en-US" sz="1200" dirty="0"/>
          </a:p>
        </p:txBody>
      </p:sp>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Consultas con datos de varias tablas (3/3)</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pic>
        <p:nvPicPr>
          <p:cNvPr id="4" name="Image 0" descr="5) Antigüedad de cada empleado en años (dato derivado)">    </p:cNvPr>
          <p:cNvPicPr>
            <a:picLocks noChangeAspect="1"/>
          </p:cNvPicPr>
          <p:nvPr/>
        </p:nvPicPr>
        <p:blipFill>
          <a:blip r:embed="rId1"/>
          <a:stretch>
            <a:fillRect/>
          </a:stretch>
        </p:blipFill>
        <p:spPr>
          <a:xfrm>
            <a:off x="3155560" y="1005840"/>
            <a:ext cx="5886975" cy="4297680"/>
          </a:xfrm>
          <a:prstGeom prst="rect">
            <a:avLst/>
          </a:prstGeom>
        </p:spPr>
      </p:pic>
      <p:sp>
        <p:nvSpPr>
          <p:cNvPr id="5" name="Text 2"/>
          <p:cNvSpPr txBox="1"/>
          <p:nvPr/>
        </p:nvSpPr>
        <p:spPr>
          <a:xfrm>
            <a:off x="384048" y="5376672"/>
            <a:ext cx="114300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5) Antigüedad de cada empleado en años (dato derivado)</a:t>
            </a:r>
            <a:endParaRPr lang="en-US" sz="1200" dirty="0"/>
          </a:p>
        </p:txBody>
      </p:sp>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CRUD: actualizar (UPDATE)</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pic>
        <p:nvPicPr>
          <p:cNvPr id="4" name="Image 0" descr="Antes: el saldo de la cuenta 101 es 2000.00">    </p:cNvPr>
          <p:cNvPicPr>
            <a:picLocks noChangeAspect="1"/>
          </p:cNvPicPr>
          <p:nvPr/>
        </p:nvPicPr>
        <p:blipFill>
          <a:blip r:embed="rId1"/>
          <a:stretch>
            <a:fillRect/>
          </a:stretch>
        </p:blipFill>
        <p:spPr>
          <a:xfrm>
            <a:off x="384048" y="1005840"/>
            <a:ext cx="5600700" cy="4151568"/>
          </a:xfrm>
          <a:prstGeom prst="rect">
            <a:avLst/>
          </a:prstGeom>
        </p:spPr>
      </p:pic>
      <p:sp>
        <p:nvSpPr>
          <p:cNvPr id="5" name="Text 2"/>
          <p:cNvSpPr txBox="1"/>
          <p:nvPr/>
        </p:nvSpPr>
        <p:spPr>
          <a:xfrm>
            <a:off x="384048" y="5230560"/>
            <a:ext cx="56007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Antes: el saldo de la cuenta 101 es 2000.00</a:t>
            </a:r>
            <a:endParaRPr lang="en-US" sz="1200" dirty="0"/>
          </a:p>
        </p:txBody>
      </p:sp>
      <p:pic>
        <p:nvPicPr>
          <p:cNvPr id="6" name="Image 1" descr="Hago el UPDATE y el saldo queda en 2500.00">    </p:cNvPr>
          <p:cNvPicPr>
            <a:picLocks noChangeAspect="1"/>
          </p:cNvPicPr>
          <p:nvPr/>
        </p:nvPicPr>
        <p:blipFill>
          <a:blip r:embed="rId2"/>
          <a:stretch>
            <a:fillRect/>
          </a:stretch>
        </p:blipFill>
        <p:spPr>
          <a:xfrm>
            <a:off x="6213348" y="1005840"/>
            <a:ext cx="5600700" cy="2398848"/>
          </a:xfrm>
          <a:prstGeom prst="rect">
            <a:avLst/>
          </a:prstGeom>
        </p:spPr>
      </p:pic>
      <p:sp>
        <p:nvSpPr>
          <p:cNvPr id="7" name="Text 3"/>
          <p:cNvSpPr txBox="1"/>
          <p:nvPr/>
        </p:nvSpPr>
        <p:spPr>
          <a:xfrm>
            <a:off x="6213348" y="3477840"/>
            <a:ext cx="56007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Hago el UPDATE y el saldo queda en 2500.00</a:t>
            </a:r>
            <a:endParaRPr lang="en-US" sz="1200" dirty="0"/>
          </a:p>
        </p:txBody>
      </p:sp>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CRUD: borrar (DELETE)</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pic>
        <p:nvPicPr>
          <p:cNvPr id="4" name="Image 0" descr="Antes: PAGO tiene 4 filas">    </p:cNvPr>
          <p:cNvPicPr>
            <a:picLocks noChangeAspect="1"/>
          </p:cNvPicPr>
          <p:nvPr/>
        </p:nvPicPr>
        <p:blipFill>
          <a:blip r:embed="rId1"/>
          <a:stretch>
            <a:fillRect/>
          </a:stretch>
        </p:blipFill>
        <p:spPr>
          <a:xfrm>
            <a:off x="384048" y="1005840"/>
            <a:ext cx="5600700" cy="2019803"/>
          </a:xfrm>
          <a:prstGeom prst="rect">
            <a:avLst/>
          </a:prstGeom>
        </p:spPr>
      </p:pic>
      <p:sp>
        <p:nvSpPr>
          <p:cNvPr id="5" name="Text 2"/>
          <p:cNvSpPr txBox="1"/>
          <p:nvPr/>
        </p:nvSpPr>
        <p:spPr>
          <a:xfrm>
            <a:off x="384048" y="3098795"/>
            <a:ext cx="56007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Antes: PAGO tiene 4 filas</a:t>
            </a:r>
            <a:endParaRPr lang="en-US" sz="1200" dirty="0"/>
          </a:p>
        </p:txBody>
      </p:sp>
      <p:pic>
        <p:nvPicPr>
          <p:cNvPr id="6" name="Image 1" descr="Borro el pago 2 del préstamo 1 y quedan 3 filas">    </p:cNvPr>
          <p:cNvPicPr>
            <a:picLocks noChangeAspect="1"/>
          </p:cNvPicPr>
          <p:nvPr/>
        </p:nvPicPr>
        <p:blipFill>
          <a:blip r:embed="rId2"/>
          <a:stretch>
            <a:fillRect/>
          </a:stretch>
        </p:blipFill>
        <p:spPr>
          <a:xfrm>
            <a:off x="6213348" y="1005840"/>
            <a:ext cx="5600700" cy="3320769"/>
          </a:xfrm>
          <a:prstGeom prst="rect">
            <a:avLst/>
          </a:prstGeom>
        </p:spPr>
      </p:pic>
      <p:sp>
        <p:nvSpPr>
          <p:cNvPr id="7" name="Text 3"/>
          <p:cNvSpPr txBox="1"/>
          <p:nvPr/>
        </p:nvSpPr>
        <p:spPr>
          <a:xfrm>
            <a:off x="6213348" y="4399761"/>
            <a:ext cx="5600700" cy="457200"/>
          </a:xfrm>
          <a:prstGeom prst="rect">
            <a:avLst/>
          </a:prstGeom>
          <a:noFill/>
          <a:ln/>
        </p:spPr>
        <p:txBody>
          <a:bodyPr wrap="square" lIns="0" tIns="0" rIns="0" bIns="0" rtlCol="0" anchor="t"/>
          <a:lstStyle/>
          <a:p>
            <a:pPr algn="ctr" indent="0" marL="0">
              <a:buNone/>
            </a:pPr>
            <a:r>
              <a:rPr lang="en-US" sz="1200" dirty="0">
                <a:solidFill>
                  <a:srgbClr val="333333"/>
                </a:solidFill>
                <a:latin typeface="Calibri" pitchFamily="34" charset="0"/>
                <a:ea typeface="Calibri" pitchFamily="34" charset="-122"/>
                <a:cs typeface="Calibri" pitchFamily="34" charset="-120"/>
              </a:rPr>
              <a:t>Borro el pago 2 del préstamo 1 y quedan 3 filas</a:t>
            </a:r>
            <a:endParaRPr lang="en-US" sz="1200" dirty="0"/>
          </a:p>
        </p:txBody>
      </p:sp>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Enlace a MySQL: sentencias SQL</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sp>
        <p:nvSpPr>
          <p:cNvPr id="4" name="Text 2"/>
          <p:cNvSpPr txBox="1"/>
          <p:nvPr/>
        </p:nvSpPr>
        <p:spPr>
          <a:xfrm>
            <a:off x="384048" y="1097280"/>
            <a:ext cx="10972800" cy="365760"/>
          </a:xfrm>
          <a:prstGeom prst="rect">
            <a:avLst/>
          </a:prstGeom>
          <a:noFill/>
          <a:ln/>
        </p:spPr>
        <p:txBody>
          <a:bodyPr wrap="square" lIns="0" tIns="0" rIns="0" bIns="0" rtlCol="0" anchor="ctr"/>
          <a:lstStyle/>
          <a:p>
            <a:pPr indent="0" marL="0">
              <a:buNone/>
            </a:pPr>
            <a:r>
              <a:rPr lang="en-US" sz="2000" dirty="0">
                <a:solidFill>
                  <a:srgbClr val="222222"/>
                </a:solidFill>
                <a:latin typeface="Calibri" pitchFamily="34" charset="0"/>
                <a:ea typeface="Calibri" pitchFamily="34" charset="-122"/>
                <a:cs typeface="Calibri" pitchFamily="34" charset="-120"/>
              </a:rPr>
              <a:t>Aquí dejé los scripts completos:</a:t>
            </a:r>
            <a:endParaRPr lang="en-US" sz="2000" dirty="0"/>
          </a:p>
        </p:txBody>
      </p:sp>
      <p:sp>
        <p:nvSpPr>
          <p:cNvPr id="5" name="Text 3">
            <a:hlinkClick r:id="rId1" tooltip=""/>
          </p:cNvPr>
          <p:cNvSpPr txBox="1"/>
          <p:nvPr/>
        </p:nvSpPr>
        <p:spPr>
          <a:xfrm>
            <a:off x="384048" y="1554480"/>
            <a:ext cx="10972800" cy="457200"/>
          </a:xfrm>
          <a:prstGeom prst="rect">
            <a:avLst/>
          </a:prstGeom>
          <a:noFill/>
          <a:ln/>
        </p:spPr>
        <p:txBody>
          <a:bodyPr wrap="square" lIns="0" tIns="0" rIns="0" bIns="0" rtlCol="0" anchor="ctr"/>
          <a:lstStyle/>
          <a:p>
            <a:pPr indent="0" marL="0">
              <a:buNone/>
            </a:pPr>
            <a:r>
              <a:rPr lang="en-US" sz="2600" b="1" u="sng" dirty="0">
                <a:solidFill>
                  <a:srgbClr val="E4520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https://github.com/christiansan141/BANCOSQL</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84048" y="2377440"/>
          <a:ext cx="11430000" cy="914400"/>
        </p:xfrm>
        <a:graphic>
          <a:graphicData uri="http://schemas.openxmlformats.org/drawingml/2006/table">
            <a:tbl>
              <a:tblPr/>
              <a:tblGrid>
                <a:gridCol w="2743200"/>
                <a:gridCol w="868680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Archivo</a:t>
                      </a:r>
                      <a:endParaRPr lang="en-US" sz="1600" dirty="0">
                        <a:latin typeface="Calibri" charset="0"/>
                        <a:ea typeface="Calibri" charset="0"/>
                        <a:cs typeface="Calibri" charset="0"/>
                      </a:endParaRPr>
                    </a:p>
                  </a:txBody>
                  <a:tcPr marL="73152" marR="73152"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4520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Contenido</a:t>
                      </a:r>
                      <a:endParaRPr lang="en-US" sz="1600" dirty="0">
                        <a:latin typeface="Calibri" charset="0"/>
                        <a:ea typeface="Calibri" charset="0"/>
                        <a:cs typeface="Calibri" charset="0"/>
                      </a:endParaRPr>
                    </a:p>
                  </a:txBody>
                  <a:tcPr marL="73152" marR="73152"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4520F"/>
                    </a:solidFill>
                  </a:tcPr>
                </a:tc>
              </a:tr>
              <a:tr h="0">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BANCO.sql</a:t>
                      </a:r>
                      <a:endParaRPr lang="en-US" sz="15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Creación de la base de datos, las 11 tablas y sus relaciones (CREATE)</a:t>
                      </a:r>
                      <a:endParaRPr lang="en-US" sz="15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INSERCION_DATOS.sql</a:t>
                      </a:r>
                      <a:endParaRPr lang="en-US" sz="15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Datos (INSERT), consultas (SELECT y JOIN), actualización (UPDATE) y borrado (DELETE)</a:t>
                      </a:r>
                      <a:endParaRPr lang="en-US" sz="1500" dirty="0">
                        <a:latin typeface="Calibri" charset="0"/>
                        <a:ea typeface="Calibri" charset="0"/>
                        <a:cs typeface="Calibri" charset="0"/>
                      </a:endParaRPr>
                    </a:p>
                  </a:txBody>
                  <a:tcPr marL="73152" marR="73152" marT="45720" marB="45720" anchor="t">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AF3EE"/>
                    </a:solidFill>
                  </a:tcPr>
                </a:tc>
              </a:tr>
            </a:tbl>
          </a:graphicData>
        </a:graphic>
      </p:graphicFrame>
      <p:sp>
        <p:nvSpPr>
          <p:cNvPr id="7" name="Text 4"/>
          <p:cNvSpPr txBox="1"/>
          <p:nvPr/>
        </p:nvSpPr>
        <p:spPr>
          <a:xfrm>
            <a:off x="384048" y="3840480"/>
            <a:ext cx="11338560" cy="731520"/>
          </a:xfrm>
          <a:prstGeom prst="rect">
            <a:avLst/>
          </a:prstGeom>
          <a:noFill/>
          <a:ln/>
        </p:spPr>
        <p:txBody>
          <a:bodyPr wrap="square" lIns="0" tIns="0" rIns="0" bIns="0" rtlCol="0" anchor="t"/>
          <a:lstStyle/>
          <a:p>
            <a:pPr indent="0" marL="0">
              <a:buNone/>
            </a:pPr>
            <a:r>
              <a:rPr lang="en-US" sz="1300" dirty="0">
                <a:solidFill>
                  <a:srgbClr val="444444"/>
                </a:solidFill>
                <a:latin typeface="Calibri" pitchFamily="34" charset="0"/>
                <a:ea typeface="Calibri" pitchFamily="34" charset="-122"/>
                <a:cs typeface="Calibri" pitchFamily="34" charset="-120"/>
              </a:rPr>
              <a:t>CRUD: Create = CREATE TABLE / INSERT · Read = SELECT · Update = UPDATE · Delete = DELETE.</a:t>
            </a:r>
            <a:endParaRPr lang="en-US" sz="1300" dirty="0"/>
          </a:p>
        </p:txBody>
      </p:sp>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28600"/>
            <a:ext cx="11338560" cy="548640"/>
          </a:xfrm>
          <a:prstGeom prst="rect">
            <a:avLst/>
          </a:prstGeom>
          <a:noFill/>
          <a:ln/>
        </p:spPr>
        <p:txBody>
          <a:bodyPr wrap="square" lIns="0" tIns="0" rIns="0" bIns="0" rtlCol="0" anchor="ctr"/>
          <a:lstStyle/>
          <a:p>
            <a:pPr indent="0" marL="0">
              <a:buNone/>
            </a:pPr>
            <a:r>
              <a:rPr lang="en-US" sz="3000" b="1" dirty="0">
                <a:solidFill>
                  <a:srgbClr val="1A1A1A"/>
                </a:solidFill>
                <a:latin typeface="Calibri" pitchFamily="34" charset="0"/>
                <a:ea typeface="Calibri" pitchFamily="34" charset="-122"/>
                <a:cs typeface="Calibri" pitchFamily="34" charset="-120"/>
              </a:rPr>
              <a:t>Conclusiones</a:t>
            </a:r>
            <a:endParaRPr lang="en-US" sz="3000" dirty="0"/>
          </a:p>
        </p:txBody>
      </p:sp>
      <p:sp>
        <p:nvSpPr>
          <p:cNvPr id="3" name="Text 1"/>
          <p:cNvSpPr txBox="1"/>
          <p:nvPr/>
        </p:nvSpPr>
        <p:spPr>
          <a:xfrm>
            <a:off x="384048" y="6473952"/>
            <a:ext cx="8229600" cy="274320"/>
          </a:xfrm>
          <a:prstGeom prst="rect">
            <a:avLst/>
          </a:prstGeom>
          <a:noFill/>
          <a:ln/>
        </p:spPr>
        <p:txBody>
          <a:bodyPr wrap="square" lIns="0" tIns="0" rIns="0" bIns="0" rtlCol="0" anchor="ctr"/>
          <a:lstStyle/>
          <a:p>
            <a:pPr indent="0" marL="0">
              <a:buNone/>
            </a:pPr>
            <a:r>
              <a:rPr lang="en-US" sz="1100" dirty="0">
                <a:solidFill>
                  <a:srgbClr val="777777"/>
                </a:solidFill>
                <a:latin typeface="Calibri" pitchFamily="34" charset="0"/>
                <a:ea typeface="Calibri" pitchFamily="34" charset="-122"/>
                <a:cs typeface="Calibri" pitchFamily="34" charset="-120"/>
              </a:rPr>
              <a:t>Christian Peralta Restrepo · Actividad Banco: modelo E/R y MySQL</a:t>
            </a:r>
            <a:endParaRPr lang="en-US" sz="1100" dirty="0"/>
          </a:p>
        </p:txBody>
      </p:sp>
      <p:sp>
        <p:nvSpPr>
          <p:cNvPr id="4" name="Text 2"/>
          <p:cNvSpPr txBox="1"/>
          <p:nvPr/>
        </p:nvSpPr>
        <p:spPr>
          <a:xfrm>
            <a:off x="457200" y="1097280"/>
            <a:ext cx="11247120" cy="5029200"/>
          </a:xfrm>
          <a:prstGeom prst="rect">
            <a:avLst/>
          </a:prstGeom>
          <a:noFill/>
          <a:ln/>
        </p:spPr>
        <p:txBody>
          <a:bodyPr wrap="square" rtlCol="0" anchor="t"/>
          <a:lstStyle/>
          <a:p>
            <a:pPr marL="342900" indent="-342900">
              <a:spcAft>
                <a:spcPts val="1600"/>
              </a:spcAft>
              <a:buSzPct val="100000"/>
              <a:buChar char="•"/>
            </a:pPr>
            <a:r>
              <a:rPr lang="en-US" sz="2000" dirty="0">
                <a:solidFill>
                  <a:srgbClr val="222222"/>
                </a:solidFill>
                <a:latin typeface="Calibri" pitchFamily="34" charset="0"/>
                <a:ea typeface="Calibri" pitchFamily="34" charset="-122"/>
                <a:cs typeface="Calibri" pitchFamily="34" charset="-120"/>
              </a:rPr>
              <a:t>SQL es demasiado estricto: el manejo del lenguaje obliga a usar una arquitectura declarativa y fuertemente tipada, y limita la estructura de cualquier proyecto a las mismas bases: primero encontrar las entidades, entender las relaciones, hacer el diagrama relacional y luego construirlo todo.</a:t>
            </a:r>
            <a:endParaRPr lang="en-US" sz="2000" dirty="0"/>
          </a:p>
          <a:p>
            <a:pPr marL="342900" indent="-342900">
              <a:spcAft>
                <a:spcPts val="1600"/>
              </a:spcAft>
              <a:buSzPct val="100000"/>
              <a:buChar char="•"/>
            </a:pPr>
            <a:r>
              <a:rPr lang="en-US" sz="2000" dirty="0">
                <a:solidFill>
                  <a:srgbClr val="222222"/>
                </a:solidFill>
                <a:latin typeface="Calibri" pitchFamily="34" charset="0"/>
                <a:ea typeface="Calibri" pitchFamily="34" charset="-122"/>
                <a:cs typeface="Calibri" pitchFamily="34" charset="-120"/>
              </a:rPr>
              <a:t>Se evitó colocar correcciones al momento de borrar registros. He observado que si borro, por ejemplo, un registro de una cuenta, MySQL no me deja mientras existan datos relacionados en otras tablas, y tampoco los borra en cascada. Desconozco cómo conectarlo en cascada y, en vez de buscar cómo solucionarlo, lo dejo acá como evidencia del avance y, a la vez, de lo que desconozco sobre cómo conectar y dejar completamente funcional esta base de datos que estoy presentando.</a:t>
            </a:r>
            <a:endParaRPr lang="en-US" sz="2000" dirty="0"/>
          </a:p>
        </p:txBody>
      </p:sp>
      <p:sp>
        <p:nvSpPr>
          <p:cNvPr id="25" name="Slide Number Placeholder 0"/>
          <p:cNvSpPr>
            <a:spLocks noGrp="1"/>
          </p:cNvSpPr>
          <p:nvPr>
            <p:ph type="sldNum" sz="quarter" idx="4294967295"/>
          </p:nvPr>
        </p:nvSpPr>
        <p:spPr>
          <a:xfrm>
            <a:off x="11155680" y="6473952"/>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Actividad Banco: modelo E/R y MySQL</dc:title>
  <dc:subject/>
  <dc:creator>Christian Peralta Restrepo</dc:creator>
  <cp:lastModifiedBy>Christian Peralta Restrepo</cp:lastModifiedBy>
  <cp:revision>1</cp:revision>
  <dcterms:created xsi:type="dcterms:W3CDTF">2026-09-29T21:57:15Z</dcterms:created>
  <dcterms:modified xsi:type="dcterms:W3CDTF">2026-09-29T21:57:15Z</dcterms:modified>
</cp:coreProperties>
</file>